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311" r:id="rId3"/>
    <p:sldId id="296" r:id="rId4"/>
    <p:sldId id="312" r:id="rId5"/>
    <p:sldId id="303" r:id="rId6"/>
    <p:sldId id="304" r:id="rId7"/>
    <p:sldId id="305" r:id="rId8"/>
    <p:sldId id="307" r:id="rId9"/>
    <p:sldId id="306" r:id="rId10"/>
    <p:sldId id="308" r:id="rId11"/>
    <p:sldId id="310" r:id="rId12"/>
    <p:sldId id="314" r:id="rId13"/>
    <p:sldId id="315" r:id="rId14"/>
    <p:sldId id="316" r:id="rId15"/>
    <p:sldId id="317" r:id="rId16"/>
    <p:sldId id="318" r:id="rId17"/>
    <p:sldId id="288"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772BAF-3B09-49A5-AE37-65BE5DF885AC}" v="1" dt="2026-07-23T15:35:26.434"/>
    <p1510:client id="{F27E562F-5564-424E-86A8-D73BCDA3F504}" v="21" dt="2026-07-23T12:15:17.11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850" y="62"/>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5321D70-E892-43A2-B663-C229C3E17C20}" type="datetimeFigureOut">
              <a:rPr lang="en-IN" smtClean="0"/>
              <a:t>29-08-2026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F899D8B-47E7-409C-BBBA-B74D81E8A85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4775" y="0"/>
            <a:ext cx="1381125" cy="1133475"/>
          </a:xfrm>
          <a:prstGeom prst="rect">
            <a:avLst/>
          </a:prstGeom>
        </p:spPr>
      </p:pic>
      <p:pic>
        <p:nvPicPr>
          <p:cNvPr id="17" name="bg object 17"/>
          <p:cNvPicPr/>
          <p:nvPr/>
        </p:nvPicPr>
        <p:blipFill>
          <a:blip r:embed="rId8" cstate="print"/>
          <a:stretch>
            <a:fillRect/>
          </a:stretch>
        </p:blipFill>
        <p:spPr>
          <a:xfrm>
            <a:off x="10959260" y="0"/>
            <a:ext cx="1141425" cy="1216152"/>
          </a:xfrm>
          <a:prstGeom prst="rect">
            <a:avLst/>
          </a:prstGeom>
        </p:spPr>
      </p:pic>
      <p:sp>
        <p:nvSpPr>
          <p:cNvPr id="2" name="Holder 2"/>
          <p:cNvSpPr>
            <a:spLocks noGrp="1"/>
          </p:cNvSpPr>
          <p:nvPr>
            <p:ph type="title"/>
          </p:nvPr>
        </p:nvSpPr>
        <p:spPr>
          <a:xfrm>
            <a:off x="3248025" y="229869"/>
            <a:ext cx="5695949" cy="1127125"/>
          </a:xfrm>
          <a:prstGeom prst="rect">
            <a:avLst/>
          </a:prstGeom>
        </p:spPr>
        <p:txBody>
          <a:bodyPr wrap="square" lIns="0" tIns="0" rIns="0" bIns="0">
            <a:spAutoFit/>
          </a:bodyPr>
          <a:lstStyle>
            <a:lvl1pPr>
              <a:defRPr sz="2750" b="1" i="0">
                <a:solidFill>
                  <a:srgbClr val="C0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954405" y="1621472"/>
            <a:ext cx="9318625" cy="4608195"/>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8037036" y="4343400"/>
            <a:ext cx="1511300" cy="334645"/>
          </a:xfrm>
          <a:prstGeom prst="rect">
            <a:avLst/>
          </a:prstGeom>
        </p:spPr>
        <p:txBody>
          <a:bodyPr vert="horz" wrap="square" lIns="0" tIns="15875" rIns="0" bIns="0" rtlCol="0">
            <a:spAutoFit/>
          </a:bodyPr>
          <a:lstStyle/>
          <a:p>
            <a:pPr marL="12700">
              <a:lnSpc>
                <a:spcPct val="100000"/>
              </a:lnSpc>
              <a:spcBef>
                <a:spcPts val="125"/>
              </a:spcBef>
            </a:pPr>
            <a:r>
              <a:rPr sz="2000" b="1" dirty="0">
                <a:solidFill>
                  <a:srgbClr val="FF0000"/>
                </a:solidFill>
                <a:latin typeface="Times New Roman" panose="02020603050405020304"/>
                <a:cs typeface="Times New Roman" panose="02020603050405020304"/>
              </a:rPr>
              <a:t>Presented</a:t>
            </a:r>
            <a:r>
              <a:rPr sz="2000" b="1" spc="-90" dirty="0">
                <a:solidFill>
                  <a:srgbClr val="FF0000"/>
                </a:solidFill>
                <a:latin typeface="Times New Roman" panose="02020603050405020304"/>
                <a:cs typeface="Times New Roman" panose="02020603050405020304"/>
              </a:rPr>
              <a:t> </a:t>
            </a:r>
            <a:r>
              <a:rPr sz="2000" b="1" spc="-25" dirty="0">
                <a:solidFill>
                  <a:srgbClr val="FF0000"/>
                </a:solidFill>
                <a:latin typeface="Times New Roman" panose="02020603050405020304"/>
                <a:cs typeface="Times New Roman" panose="02020603050405020304"/>
              </a:rPr>
              <a:t>by:</a:t>
            </a:r>
            <a:endParaRPr sz="2000" dirty="0">
              <a:latin typeface="Times New Roman" panose="02020603050405020304"/>
              <a:cs typeface="Times New Roman" panose="02020603050405020304"/>
            </a:endParaRPr>
          </a:p>
        </p:txBody>
      </p:sp>
      <p:sp>
        <p:nvSpPr>
          <p:cNvPr id="7" name="object 7"/>
          <p:cNvSpPr txBox="1"/>
          <p:nvPr/>
        </p:nvSpPr>
        <p:spPr>
          <a:xfrm>
            <a:off x="8037036" y="4895052"/>
            <a:ext cx="3399472" cy="1704954"/>
          </a:xfrm>
          <a:prstGeom prst="rect">
            <a:avLst/>
          </a:prstGeom>
        </p:spPr>
        <p:txBody>
          <a:bodyPr vert="horz" wrap="square" lIns="0" tIns="12065" rIns="0" bIns="0" rtlCol="0">
            <a:spAutoFit/>
          </a:bodyPr>
          <a:lstStyle/>
          <a:p>
            <a:pPr marL="25400">
              <a:spcBef>
                <a:spcPts val="620"/>
              </a:spcBef>
            </a:pPr>
            <a:r>
              <a:rPr lang="en-US" spc="-25" dirty="0" err="1">
                <a:latin typeface="Times New Roman" panose="02020603050405020304" pitchFamily="18" charset="0"/>
                <a:cs typeface="Times New Roman" panose="02020603050405020304" pitchFamily="18" charset="0"/>
              </a:rPr>
              <a:t>D.Haritha</a:t>
            </a:r>
            <a:r>
              <a:rPr lang="en-US" spc="-25" dirty="0">
                <a:latin typeface="Times New Roman" panose="02020603050405020304" pitchFamily="18" charset="0"/>
                <a:cs typeface="Times New Roman" panose="02020603050405020304" pitchFamily="18" charset="0"/>
              </a:rPr>
              <a:t>  (192425254)</a:t>
            </a:r>
          </a:p>
          <a:p>
            <a:pPr marL="25400">
              <a:spcBef>
                <a:spcPts val="620"/>
              </a:spcBef>
            </a:pPr>
            <a:r>
              <a:rPr lang="en-US" altLang="en-GB" dirty="0" err="1">
                <a:latin typeface="Times New Roman" panose="02020603050405020304" charset="0"/>
                <a:cs typeface="Times New Roman" panose="02020603050405020304" charset="0"/>
              </a:rPr>
              <a:t>G.Yaswitha</a:t>
            </a:r>
            <a:r>
              <a:rPr lang="en-US" altLang="en-GB" dirty="0">
                <a:latin typeface="Times New Roman" panose="02020603050405020304" charset="0"/>
                <a:cs typeface="Times New Roman" panose="02020603050405020304" charset="0"/>
              </a:rPr>
              <a:t>(192325087)</a:t>
            </a:r>
          </a:p>
          <a:p>
            <a:pPr marL="25400">
              <a:spcBef>
                <a:spcPts val="620"/>
              </a:spcBef>
            </a:pPr>
            <a:r>
              <a:rPr lang="en-US" altLang="en-GB" dirty="0" err="1">
                <a:latin typeface="Times New Roman" panose="02020603050405020304" charset="0"/>
                <a:cs typeface="Times New Roman" panose="02020603050405020304" charset="0"/>
              </a:rPr>
              <a:t>R.Rupasree</a:t>
            </a:r>
            <a:r>
              <a:rPr lang="en-US" altLang="en-GB" dirty="0">
                <a:latin typeface="Times New Roman" panose="02020603050405020304" charset="0"/>
                <a:cs typeface="Times New Roman" panose="02020603050405020304" charset="0"/>
              </a:rPr>
              <a:t>(192472122)</a:t>
            </a:r>
          </a:p>
          <a:p>
            <a:pPr marL="25400">
              <a:spcBef>
                <a:spcPts val="620"/>
              </a:spcBef>
            </a:pPr>
            <a:r>
              <a:rPr lang="en-US" altLang="en-GB" dirty="0">
                <a:latin typeface="Times New Roman" panose="02020603050405020304" charset="0"/>
                <a:cs typeface="Times New Roman" panose="02020603050405020304" charset="0"/>
              </a:rPr>
              <a:t>Madhulika(192472188)</a:t>
            </a:r>
          </a:p>
          <a:p>
            <a:pPr marL="25400">
              <a:spcBef>
                <a:spcPts val="620"/>
              </a:spcBef>
            </a:pPr>
            <a:endParaRPr lang="en-US" altLang="en-GB" dirty="0">
              <a:latin typeface="Times New Roman" panose="02020603050405020304" charset="0"/>
              <a:cs typeface="Times New Roman" panose="02020603050405020304" charset="0"/>
            </a:endParaRPr>
          </a:p>
        </p:txBody>
      </p:sp>
      <p:sp>
        <p:nvSpPr>
          <p:cNvPr id="8" name="object 8"/>
          <p:cNvSpPr txBox="1"/>
          <p:nvPr/>
        </p:nvSpPr>
        <p:spPr>
          <a:xfrm>
            <a:off x="633622" y="4517886"/>
            <a:ext cx="4290803" cy="323807"/>
          </a:xfrm>
          <a:prstGeom prst="rect">
            <a:avLst/>
          </a:prstGeom>
        </p:spPr>
        <p:txBody>
          <a:bodyPr vert="horz" wrap="square" lIns="0" tIns="15875" rIns="0" bIns="0" rtlCol="0">
            <a:spAutoFit/>
          </a:bodyPr>
          <a:lstStyle/>
          <a:p>
            <a:pPr marL="12700">
              <a:lnSpc>
                <a:spcPct val="100000"/>
              </a:lnSpc>
              <a:spcBef>
                <a:spcPts val="125"/>
              </a:spcBef>
            </a:pPr>
            <a:r>
              <a:rPr lang="en-US" sz="2000" b="1" dirty="0" err="1">
                <a:solidFill>
                  <a:srgbClr val="FF0000"/>
                </a:solidFill>
                <a:latin typeface="Times New Roman" panose="02020603050405020304"/>
                <a:cs typeface="Times New Roman" panose="02020603050405020304"/>
              </a:rPr>
              <a:t>S</a:t>
            </a:r>
            <a:r>
              <a:rPr sz="2000" b="1" dirty="0" err="1">
                <a:solidFill>
                  <a:srgbClr val="FF0000"/>
                </a:solidFill>
                <a:latin typeface="Times New Roman" panose="02020603050405020304"/>
                <a:cs typeface="Times New Roman" panose="02020603050405020304"/>
              </a:rPr>
              <a:t>uperv</a:t>
            </a:r>
            <a:r>
              <a:rPr lang="en-IN" sz="2000" b="1" dirty="0" err="1">
                <a:solidFill>
                  <a:srgbClr val="FF0000"/>
                </a:solidFill>
                <a:latin typeface="Times New Roman" panose="02020603050405020304"/>
                <a:cs typeface="Times New Roman" panose="02020603050405020304"/>
              </a:rPr>
              <a:t>ised</a:t>
            </a:r>
            <a:r>
              <a:rPr lang="en-IN" sz="2000" b="1" dirty="0">
                <a:solidFill>
                  <a:srgbClr val="FF0000"/>
                </a:solidFill>
                <a:latin typeface="Times New Roman" panose="02020603050405020304"/>
                <a:cs typeface="Times New Roman" panose="02020603050405020304"/>
              </a:rPr>
              <a:t> by</a:t>
            </a:r>
            <a:r>
              <a:rPr sz="2000" b="1" spc="-50" dirty="0">
                <a:solidFill>
                  <a:srgbClr val="FF0000"/>
                </a:solidFill>
                <a:latin typeface="Times New Roman" panose="02020603050405020304"/>
                <a:cs typeface="Times New Roman" panose="02020603050405020304"/>
              </a:rPr>
              <a:t>:</a:t>
            </a:r>
            <a:endParaRPr sz="2000" dirty="0">
              <a:latin typeface="Times New Roman" panose="02020603050405020304"/>
              <a:cs typeface="Times New Roman" panose="02020603050405020304"/>
            </a:endParaRPr>
          </a:p>
        </p:txBody>
      </p:sp>
      <p:sp>
        <p:nvSpPr>
          <p:cNvPr id="9" name="object 9"/>
          <p:cNvSpPr txBox="1"/>
          <p:nvPr/>
        </p:nvSpPr>
        <p:spPr>
          <a:xfrm rot="10800000" flipV="1">
            <a:off x="610552" y="5071006"/>
            <a:ext cx="4285298" cy="318677"/>
          </a:xfrm>
          <a:prstGeom prst="rect">
            <a:avLst/>
          </a:prstGeom>
        </p:spPr>
        <p:txBody>
          <a:bodyPr vert="horz" wrap="square" lIns="0" tIns="10795" rIns="0" bIns="0" rtlCol="0">
            <a:spAutoFit/>
          </a:bodyPr>
          <a:lstStyle/>
          <a:p>
            <a:pPr marL="12700" marR="5080">
              <a:lnSpc>
                <a:spcPct val="100000"/>
              </a:lnSpc>
              <a:spcBef>
                <a:spcPts val="85"/>
              </a:spcBef>
            </a:pPr>
            <a:r>
              <a:rPr lang="en-IN" sz="2000" spc="-10" dirty="0" err="1">
                <a:latin typeface="Times New Roman" panose="02020603050405020304" pitchFamily="18" charset="0"/>
                <a:cs typeface="Times New Roman" panose="02020603050405020304" pitchFamily="18" charset="0"/>
              </a:rPr>
              <a:t>Dr.</a:t>
            </a:r>
            <a:r>
              <a:rPr lang="en-IN" sz="1800" dirty="0" err="1">
                <a:latin typeface="Times New Roman" panose="02020603050405020304" pitchFamily="18" charset="0"/>
                <a:cs typeface="Times New Roman" panose="02020603050405020304" pitchFamily="18" charset="0"/>
              </a:rPr>
              <a:t>G</a:t>
            </a:r>
            <a:r>
              <a:rPr lang="en-IN" sz="1800" dirty="0">
                <a:latin typeface="Times New Roman" panose="02020603050405020304" pitchFamily="18" charset="0"/>
                <a:cs typeface="Times New Roman" panose="02020603050405020304" pitchFamily="18" charset="0"/>
              </a:rPr>
              <a:t> A </a:t>
            </a:r>
            <a:r>
              <a:rPr lang="en-IN" sz="2000" dirty="0">
                <a:latin typeface="Times New Roman" panose="02020603050405020304" pitchFamily="18" charset="0"/>
                <a:cs typeface="Times New Roman" panose="02020603050405020304" pitchFamily="18" charset="0"/>
              </a:rPr>
              <a:t>Senthil</a:t>
            </a:r>
            <a:endParaRPr lang="en-IN" sz="2000" spc="-1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557423" y="1889059"/>
            <a:ext cx="11077153" cy="2308324"/>
          </a:xfrm>
          <a:prstGeom prst="rect">
            <a:avLst/>
          </a:prstGeom>
          <a:noFill/>
        </p:spPr>
        <p:txBody>
          <a:bodyPr wrap="square" rtlCol="0">
            <a:spAutoFit/>
          </a:bodyPr>
          <a:lstStyle/>
          <a:p>
            <a:pPr algn="ctr" fontAlgn="base"/>
            <a:r>
              <a:rPr lang="en-US" altLang="en-GB" sz="3600" b="1" dirty="0">
                <a:latin typeface="Times New Roman" panose="02020603050405020304" charset="0"/>
                <a:cs typeface="Times New Roman" panose="02020603050405020304" charset="0"/>
              </a:rPr>
              <a:t>AI-Based Intelligent Cloud Resource Management and Auto Scaling System Using Model-Based Reinforcement Learning</a:t>
            </a:r>
            <a:br>
              <a:rPr lang="en-US" altLang="en-GB" sz="3600" b="1" dirty="0">
                <a:latin typeface="Times New Roman" panose="02020603050405020304" charset="0"/>
                <a:cs typeface="Times New Roman" panose="02020603050405020304" charset="0"/>
              </a:rPr>
            </a:br>
            <a:endParaRPr lang="en-US" sz="3600" b="1" i="0" dirty="0">
              <a:solidFill>
                <a:schemeClr val="tx1"/>
              </a:solidFill>
              <a:effectLst/>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562927" y="0"/>
            <a:ext cx="10957034" cy="1672052"/>
          </a:xfrm>
          <a:prstGeom prst="rect">
            <a:avLst/>
          </a:prstGeom>
        </p:spPr>
      </p:pic>
      <p:sp>
        <p:nvSpPr>
          <p:cNvPr id="2" name="TextBox 1">
            <a:extLst>
              <a:ext uri="{FF2B5EF4-FFF2-40B4-BE49-F238E27FC236}">
                <a16:creationId xmlns:a16="http://schemas.microsoft.com/office/drawing/2014/main" id="{873B56E5-F153-648B-D7A7-9EA152AC3B9A}"/>
              </a:ext>
            </a:extLst>
          </p:cNvPr>
          <p:cNvSpPr txBox="1"/>
          <p:nvPr/>
        </p:nvSpPr>
        <p:spPr>
          <a:xfrm>
            <a:off x="1828800" y="3810000"/>
            <a:ext cx="8610598"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MLA0301 - Reinforcement Learning</a:t>
            </a:r>
          </a:p>
          <a:p>
            <a:pPr algn="ct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0322A-7AF3-9B64-BD0C-96432687A66D}"/>
              </a:ext>
            </a:extLst>
          </p:cNvPr>
          <p:cNvSpPr>
            <a:spLocks noGrp="1"/>
          </p:cNvSpPr>
          <p:nvPr>
            <p:ph type="title"/>
          </p:nvPr>
        </p:nvSpPr>
        <p:spPr>
          <a:xfrm>
            <a:off x="4038600" y="457199"/>
            <a:ext cx="3581400" cy="401597"/>
          </a:xfrm>
        </p:spPr>
        <p:txBody>
          <a:bodyPr/>
          <a:lstStyle/>
          <a:p>
            <a:pPr algn="ctr"/>
            <a:r>
              <a:rPr lang="en-US" sz="3600" dirty="0"/>
              <a:t>ABSTRACT</a:t>
            </a:r>
            <a:endParaRPr lang="en-IN" sz="3600" dirty="0"/>
          </a:p>
        </p:txBody>
      </p:sp>
      <p:sp>
        <p:nvSpPr>
          <p:cNvPr id="3" name="Text Placeholder 2">
            <a:extLst>
              <a:ext uri="{FF2B5EF4-FFF2-40B4-BE49-F238E27FC236}">
                <a16:creationId xmlns:a16="http://schemas.microsoft.com/office/drawing/2014/main" id="{8BB571DE-0805-6BD3-2D2E-11DD4CA310CE}"/>
              </a:ext>
            </a:extLst>
          </p:cNvPr>
          <p:cNvSpPr>
            <a:spLocks noGrp="1"/>
          </p:cNvSpPr>
          <p:nvPr>
            <p:ph type="body" idx="1"/>
          </p:nvPr>
        </p:nvSpPr>
        <p:spPr>
          <a:xfrm>
            <a:off x="609600" y="1447800"/>
            <a:ext cx="11049000" cy="4924425"/>
          </a:xfrm>
        </p:spPr>
        <p:txBody>
          <a:bodyPr/>
          <a:lstStyle/>
          <a:p>
            <a:pPr marL="342900" lvl="0" indent="-342900">
              <a:buFont typeface="Wingdings" panose="05000000000000000000" pitchFamily="2" charset="2"/>
              <a:buChar char="Ø"/>
            </a:pPr>
            <a:r>
              <a:rPr lang="en-IN" sz="2000" dirty="0"/>
              <a:t>Nowadays, cloud applications are widely used, and the workload can increase or decrease at any time. </a:t>
            </a:r>
          </a:p>
          <a:p>
            <a:pPr lvl="0"/>
            <a:endParaRPr lang="en-IN" sz="2000" dirty="0"/>
          </a:p>
          <a:p>
            <a:pPr marL="342900" lvl="0" indent="-342900">
              <a:buFont typeface="Wingdings" panose="05000000000000000000" pitchFamily="2" charset="2"/>
              <a:buChar char="Ø"/>
            </a:pPr>
            <a:r>
              <a:rPr lang="en-IN" sz="2000" dirty="0"/>
              <a:t>When the workload increases, more CPU, memory, and servers are needed. When it decreases, unnecessary resources should be removed. </a:t>
            </a:r>
          </a:p>
          <a:p>
            <a:pPr lvl="0"/>
            <a:endParaRPr lang="en-IN" sz="2000" dirty="0"/>
          </a:p>
          <a:p>
            <a:pPr marL="342900" lvl="0" indent="-342900">
              <a:buFont typeface="Wingdings" panose="05000000000000000000" pitchFamily="2" charset="2"/>
              <a:buChar char="Ø"/>
            </a:pPr>
            <a:r>
              <a:rPr lang="en-IN" sz="2000" dirty="0"/>
              <a:t>This project uses Artificial Intelligence and Model-Based Reinforcement Learning to automatically manage cloud resources. </a:t>
            </a:r>
          </a:p>
          <a:p>
            <a:pPr lvl="0"/>
            <a:endParaRPr lang="en-IN" sz="2000" dirty="0"/>
          </a:p>
          <a:p>
            <a:pPr marL="342900" lvl="0" indent="-342900">
              <a:buFont typeface="Wingdings" panose="05000000000000000000" pitchFamily="2" charset="2"/>
              <a:buChar char="Ø"/>
            </a:pPr>
            <a:r>
              <a:rPr lang="en-IN" sz="2000" dirty="0"/>
              <a:t>The system monitors CPU usage, memory usage, number of users, and workload to understand the current situation.</a:t>
            </a:r>
          </a:p>
          <a:p>
            <a:pPr lvl="0"/>
            <a:r>
              <a:rPr lang="en-IN" sz="2000" dirty="0"/>
              <a:t> </a:t>
            </a:r>
          </a:p>
          <a:p>
            <a:pPr marL="342900" lvl="0" indent="-342900">
              <a:buFont typeface="Wingdings" panose="05000000000000000000" pitchFamily="2" charset="2"/>
              <a:buChar char="Ø"/>
            </a:pPr>
            <a:r>
              <a:rPr lang="en-IN" sz="2000" dirty="0"/>
              <a:t>The AI predicts future workload and automatically decides whether to increase, decrease, or maintain the resources.</a:t>
            </a:r>
          </a:p>
          <a:p>
            <a:pPr lvl="0"/>
            <a:r>
              <a:rPr lang="en-IN" sz="2000" dirty="0"/>
              <a:t> </a:t>
            </a:r>
          </a:p>
          <a:p>
            <a:pPr marL="342900" lvl="0" indent="-342900">
              <a:buFont typeface="Wingdings" panose="05000000000000000000" pitchFamily="2" charset="2"/>
              <a:buChar char="Ø"/>
            </a:pPr>
            <a:r>
              <a:rPr lang="en-IN" sz="2000" dirty="0"/>
              <a:t>The main goal is to reduce cloud cost, prevent server overload, improve performance, and use resources efficiently without continuous human control. </a:t>
            </a:r>
          </a:p>
        </p:txBody>
      </p:sp>
      <p:pic>
        <p:nvPicPr>
          <p:cNvPr id="4" name="object 3">
            <a:extLst>
              <a:ext uri="{FF2B5EF4-FFF2-40B4-BE49-F238E27FC236}">
                <a16:creationId xmlns:a16="http://schemas.microsoft.com/office/drawing/2014/main" id="{F572942B-D3E6-13EF-651F-0EF4C235CF26}"/>
              </a:ext>
            </a:extLst>
          </p:cNvPr>
          <p:cNvPicPr/>
          <p:nvPr/>
        </p:nvPicPr>
        <p:blipFill>
          <a:blip r:embed="rId2" cstate="print"/>
          <a:stretch>
            <a:fillRect/>
          </a:stretch>
        </p:blipFill>
        <p:spPr>
          <a:xfrm>
            <a:off x="190530" y="179389"/>
            <a:ext cx="1343024" cy="1143000"/>
          </a:xfrm>
          <a:prstGeom prst="rect">
            <a:avLst/>
          </a:prstGeom>
        </p:spPr>
      </p:pic>
      <p:pic>
        <p:nvPicPr>
          <p:cNvPr id="6" name="object 4">
            <a:extLst>
              <a:ext uri="{FF2B5EF4-FFF2-40B4-BE49-F238E27FC236}">
                <a16:creationId xmlns:a16="http://schemas.microsoft.com/office/drawing/2014/main" id="{A0B57B99-CB2D-3B5A-CD90-2F6D3D4E8DE5}"/>
              </a:ext>
            </a:extLst>
          </p:cNvPr>
          <p:cNvPicPr/>
          <p:nvPr/>
        </p:nvPicPr>
        <p:blipFill>
          <a:blip r:embed="rId3" cstate="print"/>
          <a:stretch>
            <a:fillRect/>
          </a:stretch>
        </p:blipFill>
        <p:spPr>
          <a:xfrm>
            <a:off x="10891532" y="179389"/>
            <a:ext cx="1109938" cy="1097279"/>
          </a:xfrm>
          <a:prstGeom prst="rect">
            <a:avLst/>
          </a:prstGeom>
        </p:spPr>
      </p:pic>
    </p:spTree>
    <p:extLst>
      <p:ext uri="{BB962C8B-B14F-4D97-AF65-F5344CB8AC3E}">
        <p14:creationId xmlns:p14="http://schemas.microsoft.com/office/powerpoint/2010/main" val="109814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2819400" y="451553"/>
            <a:ext cx="6467475" cy="553998"/>
          </a:xfrm>
        </p:spPr>
        <p:txBody>
          <a:bodyPr/>
          <a:lstStyle/>
          <a:p>
            <a:pPr algn="ctr"/>
            <a:r>
              <a:rPr lang="en-IN" sz="3600" dirty="0"/>
              <a:t>INTRODUCTION</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25681" y="218607"/>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18571" y="58421"/>
            <a:ext cx="1109938" cy="1097279"/>
          </a:xfrm>
          <a:prstGeom prst="rect">
            <a:avLst/>
          </a:prstGeom>
        </p:spPr>
      </p:pic>
      <p:sp>
        <p:nvSpPr>
          <p:cNvPr id="4" name="TextBox 3">
            <a:extLst>
              <a:ext uri="{FF2B5EF4-FFF2-40B4-BE49-F238E27FC236}">
                <a16:creationId xmlns:a16="http://schemas.microsoft.com/office/drawing/2014/main" id="{AF018232-3CD1-1164-C3D9-094806E73C71}"/>
              </a:ext>
            </a:extLst>
          </p:cNvPr>
          <p:cNvSpPr txBox="1"/>
          <p:nvPr/>
        </p:nvSpPr>
        <p:spPr>
          <a:xfrm>
            <a:off x="139957" y="1600200"/>
            <a:ext cx="8623043" cy="5423088"/>
          </a:xfrm>
          <a:prstGeom prst="rect">
            <a:avLst/>
          </a:prstGeom>
          <a:noFill/>
        </p:spPr>
        <p:txBody>
          <a:bodyPr wrap="square">
            <a:spAutoFit/>
          </a:bodyPr>
          <a:lstStyle/>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Nowadays, many applications and services are hosted on the cloud because cloud computing provides flexible and scalable resources.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number of users and workload can change continuously, which can cause servers to become overloaded or resources to be unnecessarily unused.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Auto Scaling helps by automatically increasing or decreasing cloud resources according to the workload.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 this project, Artificial Intelligence and Model-Based Reinforcement Learning are used to learn cloud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make better resource-management decisions.</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main aim is to automatically provide the required resources, reduce unnecessary cloud costs, improve system performance, and prevent server overload.</a:t>
            </a:r>
          </a:p>
          <a:p>
            <a:pPr marL="342900" indent="-342900" algn="just">
              <a:lnSpc>
                <a:spcPct val="150000"/>
              </a:lnSpc>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p:txBody>
      </p:sp>
      <p:pic>
        <p:nvPicPr>
          <p:cNvPr id="3" name="Picture 2" descr="Infraestructura y Cloud | ConsultingJACC">
            <a:extLst>
              <a:ext uri="{FF2B5EF4-FFF2-40B4-BE49-F238E27FC236}">
                <a16:creationId xmlns:a16="http://schemas.microsoft.com/office/drawing/2014/main" id="{9CBC7A35-5C2A-8DE1-C63E-DA8D65679338}"/>
              </a:ext>
            </a:extLst>
          </p:cNvPr>
          <p:cNvPicPr>
            <a:picLocks noChangeAspect="1"/>
          </p:cNvPicPr>
          <p:nvPr/>
        </p:nvPicPr>
        <p:blipFill>
          <a:blip r:embed="rId4"/>
          <a:stretch>
            <a:fillRect/>
          </a:stretch>
        </p:blipFill>
        <p:spPr>
          <a:xfrm>
            <a:off x="8686800" y="2362201"/>
            <a:ext cx="2971800" cy="3124200"/>
          </a:xfrm>
          <a:prstGeom prst="rect">
            <a:avLst/>
          </a:prstGeom>
        </p:spPr>
      </p:pic>
    </p:spTree>
    <p:extLst>
      <p:ext uri="{BB962C8B-B14F-4D97-AF65-F5344CB8AC3E}">
        <p14:creationId xmlns:p14="http://schemas.microsoft.com/office/powerpoint/2010/main" val="372747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F644-0F3F-DF61-0DE4-B72FC5873B32}"/>
              </a:ext>
            </a:extLst>
          </p:cNvPr>
          <p:cNvSpPr>
            <a:spLocks noGrp="1"/>
          </p:cNvSpPr>
          <p:nvPr>
            <p:ph type="title"/>
          </p:nvPr>
        </p:nvSpPr>
        <p:spPr>
          <a:xfrm>
            <a:off x="3428999" y="229869"/>
            <a:ext cx="6096001" cy="1231106"/>
          </a:xfrm>
        </p:spPr>
        <p:txBody>
          <a:bodyPr/>
          <a:lstStyle/>
          <a:p>
            <a:r>
              <a:rPr lang="en-IN" sz="3600" dirty="0"/>
              <a:t>LITERATURE REVIEW</a:t>
            </a:r>
            <a:br>
              <a:rPr lang="en-IN" sz="4400" dirty="0"/>
            </a:br>
            <a:endParaRPr lang="en-IN" sz="4400" dirty="0"/>
          </a:p>
        </p:txBody>
      </p:sp>
      <p:pic>
        <p:nvPicPr>
          <p:cNvPr id="4" name="object 3">
            <a:extLst>
              <a:ext uri="{FF2B5EF4-FFF2-40B4-BE49-F238E27FC236}">
                <a16:creationId xmlns:a16="http://schemas.microsoft.com/office/drawing/2014/main" id="{34222F9D-6CBA-C10E-BBA3-228F5482CE90}"/>
              </a:ext>
            </a:extLst>
          </p:cNvPr>
          <p:cNvPicPr/>
          <p:nvPr/>
        </p:nvPicPr>
        <p:blipFill>
          <a:blip r:embed="rId2" cstate="print"/>
          <a:stretch>
            <a:fillRect/>
          </a:stretch>
        </p:blipFill>
        <p:spPr>
          <a:xfrm>
            <a:off x="304800" y="83002"/>
            <a:ext cx="1343024" cy="1143000"/>
          </a:xfrm>
          <a:prstGeom prst="rect">
            <a:avLst/>
          </a:prstGeom>
        </p:spPr>
      </p:pic>
      <p:pic>
        <p:nvPicPr>
          <p:cNvPr id="5" name="object 4">
            <a:extLst>
              <a:ext uri="{FF2B5EF4-FFF2-40B4-BE49-F238E27FC236}">
                <a16:creationId xmlns:a16="http://schemas.microsoft.com/office/drawing/2014/main" id="{F21BF968-1F6D-4112-7662-953304CFE278}"/>
              </a:ext>
            </a:extLst>
          </p:cNvPr>
          <p:cNvPicPr/>
          <p:nvPr/>
        </p:nvPicPr>
        <p:blipFill>
          <a:blip r:embed="rId3" cstate="print"/>
          <a:stretch>
            <a:fillRect/>
          </a:stretch>
        </p:blipFill>
        <p:spPr>
          <a:xfrm>
            <a:off x="10918571" y="58421"/>
            <a:ext cx="1109938" cy="1097279"/>
          </a:xfrm>
          <a:prstGeom prst="rect">
            <a:avLst/>
          </a:prstGeom>
        </p:spPr>
      </p:pic>
      <p:graphicFrame>
        <p:nvGraphicFramePr>
          <p:cNvPr id="7" name="Table 6">
            <a:extLst>
              <a:ext uri="{FF2B5EF4-FFF2-40B4-BE49-F238E27FC236}">
                <a16:creationId xmlns:a16="http://schemas.microsoft.com/office/drawing/2014/main" id="{2E2E23E0-ABB6-319F-279A-DA9988774CE9}"/>
              </a:ext>
            </a:extLst>
          </p:cNvPr>
          <p:cNvGraphicFramePr>
            <a:graphicFrameLocks noGrp="1"/>
          </p:cNvGraphicFramePr>
          <p:nvPr>
            <p:extLst>
              <p:ext uri="{D42A27DB-BD31-4B8C-83A1-F6EECF244321}">
                <p14:modId xmlns:p14="http://schemas.microsoft.com/office/powerpoint/2010/main" val="1285838918"/>
              </p:ext>
            </p:extLst>
          </p:nvPr>
        </p:nvGraphicFramePr>
        <p:xfrm>
          <a:off x="358877" y="1295400"/>
          <a:ext cx="11452123" cy="5310819"/>
        </p:xfrm>
        <a:graphic>
          <a:graphicData uri="http://schemas.openxmlformats.org/drawingml/2006/table">
            <a:tbl>
              <a:tblPr firstRow="1" bandRow="1">
                <a:tableStyleId>{5C22544A-7EE6-4342-B048-85BDC9FD1C3A}</a:tableStyleId>
              </a:tblPr>
              <a:tblGrid>
                <a:gridCol w="3106152">
                  <a:extLst>
                    <a:ext uri="{9D8B030D-6E8A-4147-A177-3AD203B41FA5}">
                      <a16:colId xmlns:a16="http://schemas.microsoft.com/office/drawing/2014/main" val="2023590516"/>
                    </a:ext>
                  </a:extLst>
                </a:gridCol>
                <a:gridCol w="2928745">
                  <a:extLst>
                    <a:ext uri="{9D8B030D-6E8A-4147-A177-3AD203B41FA5}">
                      <a16:colId xmlns:a16="http://schemas.microsoft.com/office/drawing/2014/main" val="4252232966"/>
                    </a:ext>
                  </a:extLst>
                </a:gridCol>
                <a:gridCol w="2894821">
                  <a:extLst>
                    <a:ext uri="{9D8B030D-6E8A-4147-A177-3AD203B41FA5}">
                      <a16:colId xmlns:a16="http://schemas.microsoft.com/office/drawing/2014/main" val="2682948634"/>
                    </a:ext>
                  </a:extLst>
                </a:gridCol>
                <a:gridCol w="2522405">
                  <a:extLst>
                    <a:ext uri="{9D8B030D-6E8A-4147-A177-3AD203B41FA5}">
                      <a16:colId xmlns:a16="http://schemas.microsoft.com/office/drawing/2014/main" val="3670648117"/>
                    </a:ext>
                  </a:extLst>
                </a:gridCol>
              </a:tblGrid>
              <a:tr h="413342">
                <a:tc>
                  <a:txBody>
                    <a:bodyPr/>
                    <a:lstStyle/>
                    <a:p>
                      <a:pPr algn="l">
                        <a:buNone/>
                      </a:pPr>
                      <a:r>
                        <a:rPr lang="en-US" sz="1800" i="0" dirty="0">
                          <a:latin typeface="Times New Roman" panose="02020603050405020304" pitchFamily="18" charset="0"/>
                          <a:cs typeface="Times New Roman" panose="02020603050405020304" pitchFamily="18" charset="0"/>
                        </a:rPr>
                        <a:t>A</a:t>
                      </a:r>
                      <a:r>
                        <a:rPr lang="en-IN" sz="1800" i="0" dirty="0" err="1">
                          <a:latin typeface="Times New Roman" panose="02020603050405020304" pitchFamily="18" charset="0"/>
                          <a:cs typeface="Times New Roman" panose="02020603050405020304" pitchFamily="18" charset="0"/>
                        </a:rPr>
                        <a:t>uthor</a:t>
                      </a:r>
                      <a:r>
                        <a:rPr lang="en-IN" sz="1800" i="0" dirty="0">
                          <a:latin typeface="Times New Roman" panose="02020603050405020304" pitchFamily="18" charset="0"/>
                          <a:cs typeface="Times New Roman" panose="02020603050405020304" pitchFamily="18" charset="0"/>
                        </a:rPr>
                        <a:t> and Title</a:t>
                      </a:r>
                    </a:p>
                  </a:txBody>
                  <a:tcPr anchor="ctr"/>
                </a:tc>
                <a:tc>
                  <a:txBody>
                    <a:bodyPr/>
                    <a:lstStyle/>
                    <a:p>
                      <a:pPr algn="l">
                        <a:buNone/>
                      </a:pPr>
                      <a:r>
                        <a:rPr lang="en-US" sz="1800" i="0" dirty="0">
                          <a:latin typeface="Times New Roman" panose="02020603050405020304" pitchFamily="18" charset="0"/>
                          <a:cs typeface="Times New Roman" panose="02020603050405020304" pitchFamily="18" charset="0"/>
                        </a:rPr>
                        <a:t>methodology</a:t>
                      </a:r>
                      <a:endParaRPr lang="en-IN" sz="1800" i="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800" b="1" i="0" dirty="0">
                          <a:latin typeface="Times New Roman" panose="02020603050405020304" pitchFamily="18" charset="0"/>
                          <a:cs typeface="Times New Roman" panose="02020603050405020304" pitchFamily="18" charset="0"/>
                        </a:rPr>
                        <a:t>Advantages</a:t>
                      </a:r>
                      <a:endParaRPr lang="en-IN" sz="1800" i="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800" b="1" i="0" dirty="0">
                          <a:latin typeface="Times New Roman" panose="02020603050405020304" pitchFamily="18" charset="0"/>
                          <a:cs typeface="Times New Roman" panose="02020603050405020304" pitchFamily="18" charset="0"/>
                        </a:rPr>
                        <a:t>Disadvantages</a:t>
                      </a:r>
                      <a:endParaRPr lang="en-IN" sz="1800"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33586437"/>
                  </a:ext>
                </a:extLst>
              </a:tr>
              <a:tr h="1343360">
                <a:tc>
                  <a:txBody>
                    <a:bodyPr/>
                    <a:lstStyle/>
                    <a:p>
                      <a:pPr>
                        <a:buNone/>
                      </a:pPr>
                      <a:r>
                        <a:rPr lang="en-IN" sz="1800" b="0" dirty="0">
                          <a:latin typeface="Times New Roman" panose="02020603050405020304" pitchFamily="18" charset="0"/>
                          <a:cs typeface="Times New Roman" panose="02020603050405020304" pitchFamily="18" charset="0"/>
                        </a:rPr>
                        <a:t>S. Kayalvili et al. (2025)  Resource Allocation Using Reinforcement Learning</a:t>
                      </a:r>
                    </a:p>
                  </a:txBody>
                  <a:tcPr anchor="ctr"/>
                </a:tc>
                <a:tc>
                  <a:txBody>
                    <a:bodyPr/>
                    <a:lstStyle/>
                    <a:p>
                      <a:pPr>
                        <a:buNone/>
                      </a:pPr>
                      <a:r>
                        <a:rPr lang="en-IN" sz="1800">
                          <a:latin typeface="Times New Roman" panose="02020603050405020304" pitchFamily="18" charset="0"/>
                          <a:cs typeface="Times New Roman" panose="02020603050405020304" pitchFamily="18" charset="0"/>
                        </a:rPr>
                        <a:t>Used prediction and Reinforcement Learning for cloud resource allocation.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Reduces cost and improves resource usage.</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Training is complex.</a:t>
                      </a:r>
                    </a:p>
                  </a:txBody>
                  <a:tcPr anchor="ctr"/>
                </a:tc>
                <a:extLst>
                  <a:ext uri="{0D108BD9-81ED-4DB2-BD59-A6C34878D82A}">
                    <a16:rowId xmlns:a16="http://schemas.microsoft.com/office/drawing/2014/main" val="158438757"/>
                  </a:ext>
                </a:extLst>
              </a:tr>
              <a:tr h="1305896">
                <a:tc>
                  <a:txBody>
                    <a:bodyPr/>
                    <a:lstStyle/>
                    <a:p>
                      <a:pPr>
                        <a:buNone/>
                      </a:pPr>
                      <a:r>
                        <a:rPr lang="en-IN" sz="1800" b="0" dirty="0">
                          <a:latin typeface="Times New Roman" panose="02020603050405020304" pitchFamily="18" charset="0"/>
                          <a:cs typeface="Times New Roman" panose="02020603050405020304" pitchFamily="18" charset="0"/>
                        </a:rPr>
                        <a:t>J. Pan et al. (2025) </a:t>
                      </a:r>
                    </a:p>
                    <a:p>
                      <a:pPr>
                        <a:buNone/>
                      </a:pPr>
                      <a:r>
                        <a:rPr lang="en-IN" sz="1800" b="0" dirty="0">
                          <a:latin typeface="Times New Roman" panose="02020603050405020304" pitchFamily="18" charset="0"/>
                          <a:cs typeface="Times New Roman" panose="02020603050405020304" pitchFamily="18" charset="0"/>
                        </a:rPr>
                        <a:t>Task and Resource Allocation Using Deep Reinforcement Learning</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Used Deep Reinforcement Learning for task scheduling and resource scaling.</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Improves cloud performance and resource allocation.</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Requires more computing power.</a:t>
                      </a:r>
                    </a:p>
                  </a:txBody>
                  <a:tcPr anchor="ctr"/>
                </a:tc>
                <a:extLst>
                  <a:ext uri="{0D108BD9-81ED-4DB2-BD59-A6C34878D82A}">
                    <a16:rowId xmlns:a16="http://schemas.microsoft.com/office/drawing/2014/main" val="4168877594"/>
                  </a:ext>
                </a:extLst>
              </a:tr>
              <a:tr h="1059501">
                <a:tc>
                  <a:txBody>
                    <a:bodyPr/>
                    <a:lstStyle/>
                    <a:p>
                      <a:pPr>
                        <a:buNone/>
                      </a:pPr>
                      <a:r>
                        <a:rPr lang="en-IN" sz="1800" b="0" dirty="0">
                          <a:latin typeface="Times New Roman" panose="02020603050405020304" pitchFamily="18" charset="0"/>
                          <a:cs typeface="Times New Roman" panose="02020603050405020304" pitchFamily="18" charset="0"/>
                        </a:rPr>
                        <a:t>J. Santos et al. (2026)  Reinforcement Learning for Cloud Auto-Scaling</a:t>
                      </a:r>
                    </a:p>
                  </a:txBody>
                  <a:tcPr anchor="ctr"/>
                </a:tc>
                <a:tc>
                  <a:txBody>
                    <a:bodyPr/>
                    <a:lstStyle/>
                    <a:p>
                      <a:pPr>
                        <a:buNone/>
                      </a:pPr>
                      <a:r>
                        <a:rPr lang="en-IN" sz="1800">
                          <a:latin typeface="Times New Roman" panose="02020603050405020304" pitchFamily="18" charset="0"/>
                          <a:cs typeface="Times New Roman" panose="02020603050405020304" pitchFamily="18" charset="0"/>
                        </a:rPr>
                        <a:t>Used Reinforcement Learning to automatically scale cloud resources.</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Handles changing workloads automatically.</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Results depend on training data.</a:t>
                      </a:r>
                    </a:p>
                  </a:txBody>
                  <a:tcPr anchor="ctr"/>
                </a:tc>
                <a:extLst>
                  <a:ext uri="{0D108BD9-81ED-4DB2-BD59-A6C34878D82A}">
                    <a16:rowId xmlns:a16="http://schemas.microsoft.com/office/drawing/2014/main" val="2866941529"/>
                  </a:ext>
                </a:extLst>
              </a:tr>
              <a:tr h="1059501">
                <a:tc>
                  <a:txBody>
                    <a:bodyPr/>
                    <a:lstStyle/>
                    <a:p>
                      <a:pPr>
                        <a:buNone/>
                      </a:pPr>
                      <a:r>
                        <a:rPr lang="en-IN" sz="1800" b="0" dirty="0">
                          <a:latin typeface="Times New Roman" panose="02020603050405020304" pitchFamily="18" charset="0"/>
                          <a:cs typeface="Times New Roman" panose="02020603050405020304" pitchFamily="18" charset="0"/>
                        </a:rPr>
                        <a:t>Adaptive Container Auto-Scaling for Fluctuating Workloads (2025)</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Combined workload prediction with Reinforcement Learning for auto-scaling.</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Improves resource utilization and handles workload changes.</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Model is more complex.</a:t>
                      </a:r>
                    </a:p>
                  </a:txBody>
                  <a:tcPr anchor="ctr"/>
                </a:tc>
                <a:extLst>
                  <a:ext uri="{0D108BD9-81ED-4DB2-BD59-A6C34878D82A}">
                    <a16:rowId xmlns:a16="http://schemas.microsoft.com/office/drawing/2014/main" val="3333934469"/>
                  </a:ext>
                </a:extLst>
              </a:tr>
            </a:tbl>
          </a:graphicData>
        </a:graphic>
      </p:graphicFrame>
    </p:spTree>
    <p:extLst>
      <p:ext uri="{BB962C8B-B14F-4D97-AF65-F5344CB8AC3E}">
        <p14:creationId xmlns:p14="http://schemas.microsoft.com/office/powerpoint/2010/main" val="3083012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2286000" y="609600"/>
            <a:ext cx="7478403" cy="232312"/>
          </a:xfrm>
        </p:spPr>
        <p:txBody>
          <a:bodyPr/>
          <a:lstStyle/>
          <a:p>
            <a:pPr algn="ctr"/>
            <a:r>
              <a:rPr lang="en-US" sz="3600" b="1" i="0" dirty="0">
                <a:effectLst/>
                <a:latin typeface="Times New Roman" panose="02020603050405020304" pitchFamily="18" charset="0"/>
                <a:cs typeface="Times New Roman" panose="02020603050405020304" pitchFamily="18" charset="0"/>
              </a:rPr>
              <a:t>PROBLEM STATEMENT</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46548" y="154554"/>
            <a:ext cx="1109938" cy="1097279"/>
          </a:xfrm>
          <a:prstGeom prst="rect">
            <a:avLst/>
          </a:prstGeom>
        </p:spPr>
      </p:pic>
      <p:sp>
        <p:nvSpPr>
          <p:cNvPr id="8" name="TextBox 7">
            <a:extLst>
              <a:ext uri="{FF2B5EF4-FFF2-40B4-BE49-F238E27FC236}">
                <a16:creationId xmlns:a16="http://schemas.microsoft.com/office/drawing/2014/main" id="{C78769ED-915A-3A9F-BD32-5E0D299BE301}"/>
              </a:ext>
            </a:extLst>
          </p:cNvPr>
          <p:cNvSpPr txBox="1"/>
          <p:nvPr/>
        </p:nvSpPr>
        <p:spPr>
          <a:xfrm>
            <a:off x="533400" y="1586351"/>
            <a:ext cx="8229600" cy="4708981"/>
          </a:xfrm>
          <a:prstGeom prst="rect">
            <a:avLst/>
          </a:prstGeom>
          <a:noFill/>
        </p:spPr>
        <p:txBody>
          <a:bodyPr wrap="square">
            <a:spAutoFit/>
          </a:bodyPr>
          <a:lstStyle/>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Cloud workloads can increase or decrease frequently depending on the number of users and applications.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High workloads can overload servers, resulting in slow response and poor performance.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Allocating too many resources during low workloads causes unnecessary cloud costs.</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Traditional auto-scaling methods may react slowly to sudden changes in workload.</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Therefore, an AI-based Model-Based Reinforcement Learning system is needed to predict workload changes and automatically allocate the required resources.</a:t>
            </a:r>
          </a:p>
        </p:txBody>
      </p:sp>
      <p:pic>
        <p:nvPicPr>
          <p:cNvPr id="9" name="Picture 8" descr="What to know about accounting for cloud computing | EY - US">
            <a:extLst>
              <a:ext uri="{FF2B5EF4-FFF2-40B4-BE49-F238E27FC236}">
                <a16:creationId xmlns:a16="http://schemas.microsoft.com/office/drawing/2014/main" id="{3AB5578E-2277-0C32-9DF3-0898C2704EB2}"/>
              </a:ext>
            </a:extLst>
          </p:cNvPr>
          <p:cNvPicPr>
            <a:picLocks noChangeAspect="1"/>
          </p:cNvPicPr>
          <p:nvPr/>
        </p:nvPicPr>
        <p:blipFill>
          <a:blip r:embed="rId4"/>
          <a:stretch>
            <a:fillRect/>
          </a:stretch>
        </p:blipFill>
        <p:spPr>
          <a:xfrm>
            <a:off x="8763000" y="2127738"/>
            <a:ext cx="3048000" cy="3282462"/>
          </a:xfrm>
          <a:prstGeom prst="rect">
            <a:avLst/>
          </a:prstGeom>
        </p:spPr>
      </p:pic>
    </p:spTree>
    <p:extLst>
      <p:ext uri="{BB962C8B-B14F-4D97-AF65-F5344CB8AC3E}">
        <p14:creationId xmlns:p14="http://schemas.microsoft.com/office/powerpoint/2010/main" val="3338239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981200" y="457201"/>
            <a:ext cx="8323577" cy="553998"/>
          </a:xfrm>
        </p:spPr>
        <p:txBody>
          <a:bodyPr/>
          <a:lstStyle/>
          <a:p>
            <a:pPr algn="ctr"/>
            <a:r>
              <a:rPr lang="en-IN" sz="3600" dirty="0">
                <a:latin typeface="Times New Roman" panose="02020603050405020304" pitchFamily="18" charset="0"/>
                <a:cs typeface="Times New Roman" panose="02020603050405020304" pitchFamily="18" charset="0"/>
              </a:rPr>
              <a:t>OBJECTIVES</a:t>
            </a: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07219" y="243635"/>
            <a:ext cx="1109938" cy="1097279"/>
          </a:xfrm>
          <a:prstGeom prst="rect">
            <a:avLst/>
          </a:prstGeom>
        </p:spPr>
      </p:pic>
      <p:sp>
        <p:nvSpPr>
          <p:cNvPr id="4" name="TextBox 3">
            <a:extLst>
              <a:ext uri="{FF2B5EF4-FFF2-40B4-BE49-F238E27FC236}">
                <a16:creationId xmlns:a16="http://schemas.microsoft.com/office/drawing/2014/main" id="{D65FBC74-69F5-3B7E-A4C7-13F26CC4027C}"/>
              </a:ext>
            </a:extLst>
          </p:cNvPr>
          <p:cNvSpPr txBox="1"/>
          <p:nvPr/>
        </p:nvSpPr>
        <p:spPr>
          <a:xfrm>
            <a:off x="237716" y="1828800"/>
            <a:ext cx="8108731" cy="4401205"/>
          </a:xfrm>
          <a:prstGeom prst="rect">
            <a:avLst/>
          </a:prstGeom>
          <a:noFill/>
        </p:spPr>
        <p:txBody>
          <a:bodyPr wrap="square">
            <a:spAutoFit/>
          </a:bodyPr>
          <a:lstStyle/>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monitor cloud resources such as CPU usage, memory usage, workload, and number of users.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predict future workload changes using Model-Based Reinforcement Learning.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automatically increase or decrease resources according to the predicted workload.</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prevent server overload and improve application performance by making timely scaling decisions.</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reduce cloud costs and improve resource utilization through intelligent resource management.</a:t>
            </a:r>
          </a:p>
        </p:txBody>
      </p:sp>
      <p:pic>
        <p:nvPicPr>
          <p:cNvPr id="3" name="Picture 2" descr="What Is a Capacity Plan and How Does It Cut Cloud Costs">
            <a:extLst>
              <a:ext uri="{FF2B5EF4-FFF2-40B4-BE49-F238E27FC236}">
                <a16:creationId xmlns:a16="http://schemas.microsoft.com/office/drawing/2014/main" id="{B2396208-524B-200E-1519-EE2142279A86}"/>
              </a:ext>
            </a:extLst>
          </p:cNvPr>
          <p:cNvPicPr>
            <a:picLocks noChangeAspect="1"/>
          </p:cNvPicPr>
          <p:nvPr/>
        </p:nvPicPr>
        <p:blipFill>
          <a:blip r:embed="rId4"/>
          <a:stretch>
            <a:fillRect/>
          </a:stretch>
        </p:blipFill>
        <p:spPr>
          <a:xfrm>
            <a:off x="8818877" y="2276802"/>
            <a:ext cx="2971800" cy="3057198"/>
          </a:xfrm>
          <a:prstGeom prst="rect">
            <a:avLst/>
          </a:prstGeom>
        </p:spPr>
      </p:pic>
    </p:spTree>
    <p:extLst>
      <p:ext uri="{BB962C8B-B14F-4D97-AF65-F5344CB8AC3E}">
        <p14:creationId xmlns:p14="http://schemas.microsoft.com/office/powerpoint/2010/main" val="179263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39174" y="148710"/>
            <a:ext cx="1109938" cy="1097279"/>
          </a:xfrm>
          <a:prstGeom prst="rect">
            <a:avLst/>
          </a:prstGeom>
        </p:spPr>
      </p:pic>
      <p:sp>
        <p:nvSpPr>
          <p:cNvPr id="7" name="Title 6">
            <a:extLst>
              <a:ext uri="{FF2B5EF4-FFF2-40B4-BE49-F238E27FC236}">
                <a16:creationId xmlns:a16="http://schemas.microsoft.com/office/drawing/2014/main" id="{0E23C4AC-92C9-763F-80E5-9DADD7054482}"/>
              </a:ext>
            </a:extLst>
          </p:cNvPr>
          <p:cNvSpPr>
            <a:spLocks noGrp="1"/>
          </p:cNvSpPr>
          <p:nvPr>
            <p:ph type="title"/>
          </p:nvPr>
        </p:nvSpPr>
        <p:spPr>
          <a:xfrm>
            <a:off x="3505200" y="533400"/>
            <a:ext cx="6248400" cy="1107996"/>
          </a:xfrm>
        </p:spPr>
        <p:txBody>
          <a:bodyPr/>
          <a:lstStyle/>
          <a:p>
            <a:r>
              <a:rPr lang="en-IN" sz="3600" dirty="0"/>
              <a:t>ARCHITECTURE SYSTEM</a:t>
            </a:r>
          </a:p>
        </p:txBody>
      </p:sp>
      <p:pic>
        <p:nvPicPr>
          <p:cNvPr id="3" name="Picture 2">
            <a:extLst>
              <a:ext uri="{FF2B5EF4-FFF2-40B4-BE49-F238E27FC236}">
                <a16:creationId xmlns:a16="http://schemas.microsoft.com/office/drawing/2014/main" id="{58A88838-1BF1-4DFD-4AC0-FB114C179BA1}"/>
              </a:ext>
            </a:extLst>
          </p:cNvPr>
          <p:cNvPicPr>
            <a:picLocks noChangeAspect="1"/>
          </p:cNvPicPr>
          <p:nvPr/>
        </p:nvPicPr>
        <p:blipFill>
          <a:blip r:embed="rId4"/>
          <a:stretch>
            <a:fillRect/>
          </a:stretch>
        </p:blipFill>
        <p:spPr>
          <a:xfrm>
            <a:off x="1752600" y="1641396"/>
            <a:ext cx="8686800" cy="4683204"/>
          </a:xfrm>
          <a:prstGeom prst="rect">
            <a:avLst/>
          </a:prstGeom>
        </p:spPr>
      </p:pic>
    </p:spTree>
    <p:extLst>
      <p:ext uri="{BB962C8B-B14F-4D97-AF65-F5344CB8AC3E}">
        <p14:creationId xmlns:p14="http://schemas.microsoft.com/office/powerpoint/2010/main" val="1371644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676400" y="520248"/>
            <a:ext cx="8458200" cy="492443"/>
          </a:xfrm>
        </p:spPr>
        <p:txBody>
          <a:bodyPr/>
          <a:lstStyle/>
          <a:p>
            <a:pPr algn="ctr"/>
            <a:r>
              <a:rPr lang="en-IN" sz="3200" b="1" i="0" dirty="0">
                <a:effectLst/>
                <a:latin typeface="Times New Roman" panose="02020603050405020304" pitchFamily="18" charset="0"/>
                <a:cs typeface="Times New Roman" panose="02020603050405020304" pitchFamily="18" charset="0"/>
              </a:rPr>
              <a:t>MODULE 1:</a:t>
            </a:r>
            <a:r>
              <a:rPr lang="en-IN" sz="3200" dirty="0"/>
              <a:t>CLOUD MONITORING</a:t>
            </a:r>
            <a:endParaRPr lang="en-IN" sz="32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839174" y="205288"/>
            <a:ext cx="1109938" cy="1097279"/>
          </a:xfrm>
          <a:prstGeom prst="rect">
            <a:avLst/>
          </a:prstGeom>
        </p:spPr>
      </p:pic>
      <p:sp>
        <p:nvSpPr>
          <p:cNvPr id="4" name="TextBox 3">
            <a:extLst>
              <a:ext uri="{FF2B5EF4-FFF2-40B4-BE49-F238E27FC236}">
                <a16:creationId xmlns:a16="http://schemas.microsoft.com/office/drawing/2014/main" id="{6230DF8A-C827-5BC7-E723-8C79919105D7}"/>
              </a:ext>
            </a:extLst>
          </p:cNvPr>
          <p:cNvSpPr txBox="1"/>
          <p:nvPr/>
        </p:nvSpPr>
        <p:spPr>
          <a:xfrm>
            <a:off x="381000" y="1905000"/>
            <a:ext cx="7543800" cy="3884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it does: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Monitors cloud resources continuously and collects information such as CPU usage, memory usage, workload, and user requests.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Technique Name: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Real-Time Cloud Resource Monitoring</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Technique is Implemented: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system continuously collects resource usage data from the cloud environment. The collected data is sent to the AI system, which uses it to understand the current workload and resource condition.</a:t>
            </a:r>
          </a:p>
          <a:p>
            <a:pPr marL="342900" indent="-342900" algn="just">
              <a:lnSpc>
                <a:spcPct val="150000"/>
              </a:lnSpc>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0EF0296-B6A5-B332-DECA-FD26B8A54FF7}"/>
              </a:ext>
            </a:extLst>
          </p:cNvPr>
          <p:cNvPicPr>
            <a:picLocks noChangeAspect="1"/>
          </p:cNvPicPr>
          <p:nvPr/>
        </p:nvPicPr>
        <p:blipFill>
          <a:blip r:embed="rId4"/>
          <a:stretch>
            <a:fillRect/>
          </a:stretch>
        </p:blipFill>
        <p:spPr>
          <a:xfrm>
            <a:off x="8001000" y="1834698"/>
            <a:ext cx="3352800" cy="3884204"/>
          </a:xfrm>
          <a:prstGeom prst="rect">
            <a:avLst/>
          </a:prstGeom>
        </p:spPr>
      </p:pic>
    </p:spTree>
    <p:extLst>
      <p:ext uri="{BB962C8B-B14F-4D97-AF65-F5344CB8AC3E}">
        <p14:creationId xmlns:p14="http://schemas.microsoft.com/office/powerpoint/2010/main" val="2912406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2362200" y="533400"/>
            <a:ext cx="7605710" cy="492443"/>
          </a:xfrm>
        </p:spPr>
        <p:txBody>
          <a:bodyPr/>
          <a:lstStyle/>
          <a:p>
            <a:pPr algn="ctr"/>
            <a:r>
              <a:rPr lang="en-IN" sz="3200" b="1" i="0" dirty="0">
                <a:effectLst/>
                <a:latin typeface="Times New Roman" panose="02020603050405020304" pitchFamily="18" charset="0"/>
                <a:cs typeface="Times New Roman" panose="02020603050405020304" pitchFamily="18" charset="0"/>
              </a:rPr>
              <a:t>MODULE 2:</a:t>
            </a:r>
            <a:r>
              <a:rPr lang="en-IN" sz="3200" dirty="0"/>
              <a:t>WORKLOAD PREDICTION</a:t>
            </a:r>
            <a:endParaRPr lang="en-IN" sz="32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49939" y="287914"/>
            <a:ext cx="1109938" cy="1097279"/>
          </a:xfrm>
          <a:prstGeom prst="rect">
            <a:avLst/>
          </a:prstGeom>
        </p:spPr>
      </p:pic>
      <p:sp>
        <p:nvSpPr>
          <p:cNvPr id="4" name="TextBox 3">
            <a:extLst>
              <a:ext uri="{FF2B5EF4-FFF2-40B4-BE49-F238E27FC236}">
                <a16:creationId xmlns:a16="http://schemas.microsoft.com/office/drawing/2014/main" id="{62684C95-D0E3-F790-FBE2-55978C556F99}"/>
              </a:ext>
            </a:extLst>
          </p:cNvPr>
          <p:cNvSpPr txBox="1"/>
          <p:nvPr/>
        </p:nvSpPr>
        <p:spPr>
          <a:xfrm>
            <a:off x="381000" y="1981200"/>
            <a:ext cx="7772400" cy="3884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it does: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Predicts the upcoming workload and estimates how many cloud resources will be required.</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Technique Name: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Model-Based Reinforcement Learning</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Technique is Implemented: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system learns how cloud resources behave under different workloads. It uses the learned model to predict future workload conditions and evaluate possible resource-management actions.</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D08916-EE46-2605-5FDF-0AB046678501}"/>
              </a:ext>
            </a:extLst>
          </p:cNvPr>
          <p:cNvPicPr>
            <a:picLocks noChangeAspect="1"/>
          </p:cNvPicPr>
          <p:nvPr/>
        </p:nvPicPr>
        <p:blipFill>
          <a:blip r:embed="rId4"/>
          <a:stretch>
            <a:fillRect/>
          </a:stretch>
        </p:blipFill>
        <p:spPr>
          <a:xfrm>
            <a:off x="8153400" y="1981201"/>
            <a:ext cx="3581400" cy="4038600"/>
          </a:xfrm>
          <a:prstGeom prst="rect">
            <a:avLst/>
          </a:prstGeom>
        </p:spPr>
      </p:pic>
    </p:spTree>
    <p:extLst>
      <p:ext uri="{BB962C8B-B14F-4D97-AF65-F5344CB8AC3E}">
        <p14:creationId xmlns:p14="http://schemas.microsoft.com/office/powerpoint/2010/main" val="1630290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1905000" y="520248"/>
            <a:ext cx="8229599" cy="984885"/>
          </a:xfrm>
        </p:spPr>
        <p:txBody>
          <a:bodyPr/>
          <a:lstStyle/>
          <a:p>
            <a:pPr algn="ctr"/>
            <a:r>
              <a:rPr lang="en-IN" sz="3200" b="1" i="0" dirty="0">
                <a:effectLst/>
                <a:latin typeface="Times New Roman" panose="02020603050405020304" pitchFamily="18" charset="0"/>
                <a:cs typeface="Times New Roman" panose="02020603050405020304" pitchFamily="18" charset="0"/>
              </a:rPr>
              <a:t>MODULE 3:</a:t>
            </a:r>
            <a:r>
              <a:rPr lang="en-IN" sz="3200" dirty="0"/>
              <a:t>INTELLIGENT AUTO SCALING</a:t>
            </a:r>
            <a:endParaRPr lang="en-IN" sz="32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42888" y="229869"/>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49939" y="287914"/>
            <a:ext cx="1109938" cy="1097279"/>
          </a:xfrm>
          <a:prstGeom prst="rect">
            <a:avLst/>
          </a:prstGeom>
        </p:spPr>
      </p:pic>
      <p:sp>
        <p:nvSpPr>
          <p:cNvPr id="4" name="TextBox 3">
            <a:extLst>
              <a:ext uri="{FF2B5EF4-FFF2-40B4-BE49-F238E27FC236}">
                <a16:creationId xmlns:a16="http://schemas.microsoft.com/office/drawing/2014/main" id="{51A32B5D-4A68-4677-C292-38C06EF53648}"/>
              </a:ext>
            </a:extLst>
          </p:cNvPr>
          <p:cNvSpPr txBox="1"/>
          <p:nvPr/>
        </p:nvSpPr>
        <p:spPr>
          <a:xfrm>
            <a:off x="242888" y="1981200"/>
            <a:ext cx="7681912" cy="3884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it does: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Automatically increases or decreases cloud resources according to the workload.</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Technique Name: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AI-Based Auto Scaling</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Technique is Implemented: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AI evaluates the current and predicted workload and selects one action: Scale Up, Scale Down, or No Change. The selected action is then applied to the cloud resources.</a:t>
            </a:r>
          </a:p>
          <a:p>
            <a:pPr marL="342900" indent="-342900" algn="just">
              <a:lnSpc>
                <a:spcPct val="150000"/>
              </a:lnSpc>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146509B-0325-7977-6EFB-D3E6931E912E}"/>
              </a:ext>
            </a:extLst>
          </p:cNvPr>
          <p:cNvPicPr>
            <a:picLocks noChangeAspect="1"/>
          </p:cNvPicPr>
          <p:nvPr/>
        </p:nvPicPr>
        <p:blipFill>
          <a:blip r:embed="rId4"/>
          <a:stretch>
            <a:fillRect/>
          </a:stretch>
        </p:blipFill>
        <p:spPr>
          <a:xfrm>
            <a:off x="7924800" y="1828801"/>
            <a:ext cx="3733800" cy="4343400"/>
          </a:xfrm>
          <a:prstGeom prst="rect">
            <a:avLst/>
          </a:prstGeom>
        </p:spPr>
      </p:pic>
    </p:spTree>
    <p:extLst>
      <p:ext uri="{BB962C8B-B14F-4D97-AF65-F5344CB8AC3E}">
        <p14:creationId xmlns:p14="http://schemas.microsoft.com/office/powerpoint/2010/main" val="3311566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2953-7A74-4986-83D4-1A0803D4753A}"/>
              </a:ext>
            </a:extLst>
          </p:cNvPr>
          <p:cNvSpPr>
            <a:spLocks noGrp="1"/>
          </p:cNvSpPr>
          <p:nvPr>
            <p:ph type="title"/>
          </p:nvPr>
        </p:nvSpPr>
        <p:spPr>
          <a:xfrm>
            <a:off x="2057400" y="568523"/>
            <a:ext cx="8762999" cy="984885"/>
          </a:xfrm>
        </p:spPr>
        <p:txBody>
          <a:bodyPr/>
          <a:lstStyle/>
          <a:p>
            <a:pPr algn="ctr"/>
            <a:r>
              <a:rPr lang="en-IN" sz="3200" b="1" i="0" dirty="0">
                <a:effectLst/>
                <a:latin typeface="Times New Roman" panose="02020603050405020304" pitchFamily="18" charset="0"/>
                <a:cs typeface="Times New Roman" panose="02020603050405020304" pitchFamily="18" charset="0"/>
              </a:rPr>
              <a:t>MODULE 4:</a:t>
            </a:r>
            <a:r>
              <a:rPr lang="en-IN" sz="3200" dirty="0"/>
              <a:t>PERFORMANCE AND COST MANAGEMENT</a:t>
            </a:r>
            <a:endParaRPr lang="en-IN" sz="3200" b="1" i="0" dirty="0">
              <a:effectLst/>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F88B50AB-F476-4626-92B3-829E40035B44}"/>
              </a:ext>
            </a:extLst>
          </p:cNvPr>
          <p:cNvPicPr/>
          <p:nvPr/>
        </p:nvPicPr>
        <p:blipFill>
          <a:blip r:embed="rId2" cstate="print"/>
          <a:stretch>
            <a:fillRect/>
          </a:stretch>
        </p:blipFill>
        <p:spPr>
          <a:xfrm>
            <a:off x="208475" y="304800"/>
            <a:ext cx="1343024" cy="1143000"/>
          </a:xfrm>
          <a:prstGeom prst="rect">
            <a:avLst/>
          </a:prstGeom>
        </p:spPr>
      </p:pic>
      <p:pic>
        <p:nvPicPr>
          <p:cNvPr id="6" name="object 4">
            <a:extLst>
              <a:ext uri="{FF2B5EF4-FFF2-40B4-BE49-F238E27FC236}">
                <a16:creationId xmlns:a16="http://schemas.microsoft.com/office/drawing/2014/main" id="{4BC6E50D-33C3-4762-B2D8-FBA29613265A}"/>
              </a:ext>
            </a:extLst>
          </p:cNvPr>
          <p:cNvPicPr/>
          <p:nvPr/>
        </p:nvPicPr>
        <p:blipFill>
          <a:blip r:embed="rId3" cstate="print"/>
          <a:stretch>
            <a:fillRect/>
          </a:stretch>
        </p:blipFill>
        <p:spPr>
          <a:xfrm>
            <a:off x="10978362" y="106672"/>
            <a:ext cx="1109938" cy="1097279"/>
          </a:xfrm>
          <a:prstGeom prst="rect">
            <a:avLst/>
          </a:prstGeom>
        </p:spPr>
      </p:pic>
      <p:sp>
        <p:nvSpPr>
          <p:cNvPr id="4" name="TextBox 3">
            <a:extLst>
              <a:ext uri="{FF2B5EF4-FFF2-40B4-BE49-F238E27FC236}">
                <a16:creationId xmlns:a16="http://schemas.microsoft.com/office/drawing/2014/main" id="{FDA73A13-06D6-5423-E941-2FD24D3CDB72}"/>
              </a:ext>
            </a:extLst>
          </p:cNvPr>
          <p:cNvSpPr txBox="1"/>
          <p:nvPr/>
        </p:nvSpPr>
        <p:spPr>
          <a:xfrm>
            <a:off x="457201" y="2148850"/>
            <a:ext cx="7010399" cy="3170099"/>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What it does: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Checks system performance and cloud resource cost after scaling.</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Technique Name: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Reward-Based Resource Optimization</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Technique is Implemented: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system evaluates response time, resource usage, performance, and cost. These values are used as feedback to improve future scaling decisions and achieve better performance with lower cost.</a:t>
            </a:r>
          </a:p>
        </p:txBody>
      </p:sp>
      <p:pic>
        <p:nvPicPr>
          <p:cNvPr id="8" name="Picture 7">
            <a:extLst>
              <a:ext uri="{FF2B5EF4-FFF2-40B4-BE49-F238E27FC236}">
                <a16:creationId xmlns:a16="http://schemas.microsoft.com/office/drawing/2014/main" id="{4514DF58-AE92-EA26-0A49-DEA055DDEDB3}"/>
              </a:ext>
            </a:extLst>
          </p:cNvPr>
          <p:cNvPicPr>
            <a:picLocks noChangeAspect="1"/>
          </p:cNvPicPr>
          <p:nvPr/>
        </p:nvPicPr>
        <p:blipFill>
          <a:blip r:embed="rId4"/>
          <a:stretch>
            <a:fillRect/>
          </a:stretch>
        </p:blipFill>
        <p:spPr>
          <a:xfrm>
            <a:off x="7543800" y="1893509"/>
            <a:ext cx="4237213" cy="4395968"/>
          </a:xfrm>
          <a:prstGeom prst="rect">
            <a:avLst/>
          </a:prstGeom>
        </p:spPr>
      </p:pic>
    </p:spTree>
    <p:extLst>
      <p:ext uri="{BB962C8B-B14F-4D97-AF65-F5344CB8AC3E}">
        <p14:creationId xmlns:p14="http://schemas.microsoft.com/office/powerpoint/2010/main" val="1283876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637F3-7E72-1912-C461-AFE7F413BAE7}"/>
              </a:ext>
            </a:extLst>
          </p:cNvPr>
          <p:cNvSpPr>
            <a:spLocks noGrp="1"/>
          </p:cNvSpPr>
          <p:nvPr>
            <p:ph type="title"/>
          </p:nvPr>
        </p:nvSpPr>
        <p:spPr>
          <a:xfrm>
            <a:off x="3276599" y="457200"/>
            <a:ext cx="6858001" cy="553998"/>
          </a:xfrm>
        </p:spPr>
        <p:txBody>
          <a:bodyPr/>
          <a:lstStyle/>
          <a:p>
            <a:r>
              <a:rPr lang="en-IN" sz="3600" dirty="0"/>
              <a:t>RESULTS AND DISCUSSION</a:t>
            </a:r>
          </a:p>
        </p:txBody>
      </p:sp>
      <p:sp>
        <p:nvSpPr>
          <p:cNvPr id="3" name="Text Placeholder 2">
            <a:extLst>
              <a:ext uri="{FF2B5EF4-FFF2-40B4-BE49-F238E27FC236}">
                <a16:creationId xmlns:a16="http://schemas.microsoft.com/office/drawing/2014/main" id="{C81EA502-A851-5F4E-2D27-AAE6AD58E798}"/>
              </a:ext>
            </a:extLst>
          </p:cNvPr>
          <p:cNvSpPr>
            <a:spLocks noGrp="1"/>
          </p:cNvSpPr>
          <p:nvPr>
            <p:ph type="body" idx="1"/>
          </p:nvPr>
        </p:nvSpPr>
        <p:spPr>
          <a:xfrm>
            <a:off x="304800" y="1584086"/>
            <a:ext cx="11353800" cy="4616648"/>
          </a:xfrm>
        </p:spPr>
        <p:txBody>
          <a:bodyPr/>
          <a:lstStyle/>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system successfully monitors cloud resources such as CPU usage, memory usage, and workload.</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Model-Based Reinforcement Learning model can predict future workload conditions and resource requirements.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auto-scaling module automatically selects Scale Up, Scale Down, or No Change based on the workload.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system helps prevent server overload and maintains better application performance.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Intelligent resource allocation helps reduce unnecessary resource usage and cloud cost.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Overall, the proposed system provides efficient, automatic, and intelligent cloud resource management with less manual intervention.</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DCD58D53-6875-8F02-C3A7-74270B367395}"/>
              </a:ext>
            </a:extLst>
          </p:cNvPr>
          <p:cNvPicPr/>
          <p:nvPr/>
        </p:nvPicPr>
        <p:blipFill>
          <a:blip r:embed="rId2" cstate="print"/>
          <a:stretch>
            <a:fillRect/>
          </a:stretch>
        </p:blipFill>
        <p:spPr>
          <a:xfrm>
            <a:off x="204235" y="186813"/>
            <a:ext cx="1343024" cy="1143000"/>
          </a:xfrm>
          <a:prstGeom prst="rect">
            <a:avLst/>
          </a:prstGeom>
        </p:spPr>
      </p:pic>
      <p:pic>
        <p:nvPicPr>
          <p:cNvPr id="5" name="object 4">
            <a:extLst>
              <a:ext uri="{FF2B5EF4-FFF2-40B4-BE49-F238E27FC236}">
                <a16:creationId xmlns:a16="http://schemas.microsoft.com/office/drawing/2014/main" id="{43D8C854-C165-205F-872F-E302B41EEE7B}"/>
              </a:ext>
            </a:extLst>
          </p:cNvPr>
          <p:cNvPicPr/>
          <p:nvPr/>
        </p:nvPicPr>
        <p:blipFill>
          <a:blip r:embed="rId3" cstate="print"/>
          <a:stretch>
            <a:fillRect/>
          </a:stretch>
        </p:blipFill>
        <p:spPr>
          <a:xfrm>
            <a:off x="10987090" y="152400"/>
            <a:ext cx="1109938" cy="1097279"/>
          </a:xfrm>
          <a:prstGeom prst="rect">
            <a:avLst/>
          </a:prstGeom>
        </p:spPr>
      </p:pic>
    </p:spTree>
    <p:extLst>
      <p:ext uri="{BB962C8B-B14F-4D97-AF65-F5344CB8AC3E}">
        <p14:creationId xmlns:p14="http://schemas.microsoft.com/office/powerpoint/2010/main" val="333514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1029-D9EE-FA11-7479-ED0180F622AA}"/>
              </a:ext>
            </a:extLst>
          </p:cNvPr>
          <p:cNvSpPr>
            <a:spLocks noGrp="1"/>
          </p:cNvSpPr>
          <p:nvPr>
            <p:ph type="title"/>
          </p:nvPr>
        </p:nvSpPr>
        <p:spPr>
          <a:xfrm>
            <a:off x="3248025" y="457200"/>
            <a:ext cx="5695949" cy="553998"/>
          </a:xfrm>
        </p:spPr>
        <p:txBody>
          <a:bodyPr/>
          <a:lstStyle/>
          <a:p>
            <a:pPr algn="ctr"/>
            <a:r>
              <a:rPr lang="en-IN" sz="3600" dirty="0"/>
              <a:t>APPLICATIONS</a:t>
            </a:r>
          </a:p>
        </p:txBody>
      </p:sp>
      <p:sp>
        <p:nvSpPr>
          <p:cNvPr id="3" name="Text Placeholder 2">
            <a:extLst>
              <a:ext uri="{FF2B5EF4-FFF2-40B4-BE49-F238E27FC236}">
                <a16:creationId xmlns:a16="http://schemas.microsoft.com/office/drawing/2014/main" id="{67FFEAEE-CCC5-E23B-6756-789FAC05D673}"/>
              </a:ext>
            </a:extLst>
          </p:cNvPr>
          <p:cNvSpPr>
            <a:spLocks noGrp="1"/>
          </p:cNvSpPr>
          <p:nvPr>
            <p:ph type="body" idx="1"/>
          </p:nvPr>
        </p:nvSpPr>
        <p:spPr>
          <a:xfrm>
            <a:off x="838200" y="1600200"/>
            <a:ext cx="10439400" cy="3465988"/>
          </a:xfrm>
        </p:spPr>
        <p:txBody>
          <a:bodyPr/>
          <a:lstStyle/>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Cloud Data </a:t>
            </a:r>
            <a:r>
              <a:rPr lang="en-IN" sz="2000" b="1" dirty="0" err="1">
                <a:latin typeface="Times New Roman" panose="02020603050405020304" pitchFamily="18" charset="0"/>
                <a:cs typeface="Times New Roman" panose="02020603050405020304" pitchFamily="18" charset="0"/>
              </a:rPr>
              <a:t>Centers</a:t>
            </a:r>
            <a:r>
              <a:rPr lang="en-IN" sz="2000" dirty="0">
                <a:latin typeface="Times New Roman" panose="02020603050405020304" pitchFamily="18" charset="0"/>
                <a:cs typeface="Times New Roman" panose="02020603050405020304" pitchFamily="18" charset="0"/>
              </a:rPr>
              <a:t> – Automatically manages servers and resources based on workload.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Web Applications</a:t>
            </a:r>
            <a:r>
              <a:rPr lang="en-IN" sz="2000" dirty="0">
                <a:latin typeface="Times New Roman" panose="02020603050405020304" pitchFamily="18" charset="0"/>
                <a:cs typeface="Times New Roman" panose="02020603050405020304" pitchFamily="18" charset="0"/>
              </a:rPr>
              <a:t> – Handles sudden increases in users and requests without server overload.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E-Commerce Platforms</a:t>
            </a:r>
            <a:r>
              <a:rPr lang="en-IN" sz="2000" dirty="0">
                <a:latin typeface="Times New Roman" panose="02020603050405020304" pitchFamily="18" charset="0"/>
                <a:cs typeface="Times New Roman" panose="02020603050405020304" pitchFamily="18" charset="0"/>
              </a:rPr>
              <a:t> – Provides extra resources during high-traffic periods like sales and festivals.</a:t>
            </a:r>
          </a:p>
          <a:p>
            <a:pPr lvl="0"/>
            <a:r>
              <a:rPr lang="en-IN" sz="2000" dirty="0">
                <a:latin typeface="Times New Roman" panose="02020603050405020304" pitchFamily="18" charset="0"/>
                <a:cs typeface="Times New Roman" panose="02020603050405020304" pitchFamily="18" charset="0"/>
              </a:rPr>
              <a:t> </a:t>
            </a: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Online Streaming Services</a:t>
            </a:r>
            <a:r>
              <a:rPr lang="en-IN" sz="2000" dirty="0">
                <a:latin typeface="Times New Roman" panose="02020603050405020304" pitchFamily="18" charset="0"/>
                <a:cs typeface="Times New Roman" panose="02020603050405020304" pitchFamily="18" charset="0"/>
              </a:rPr>
              <a:t> – Adjusts resources according to the number of users watching videos.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Banking and Financial Systems</a:t>
            </a:r>
            <a:r>
              <a:rPr lang="en-IN" sz="2000" dirty="0">
                <a:latin typeface="Times New Roman" panose="02020603050405020304" pitchFamily="18" charset="0"/>
                <a:cs typeface="Times New Roman" panose="02020603050405020304" pitchFamily="18" charset="0"/>
              </a:rPr>
              <a:t> – Maintains stable performance when transaction requests increase.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IoT and Real-Time Applications</a:t>
            </a:r>
            <a:r>
              <a:rPr lang="en-IN" sz="2000" dirty="0">
                <a:latin typeface="Times New Roman" panose="02020603050405020304" pitchFamily="18" charset="0"/>
                <a:cs typeface="Times New Roman" panose="02020603050405020304" pitchFamily="18" charset="0"/>
              </a:rPr>
              <a:t> – Dynamically manages resources for continuously changing data and workloads.</a:t>
            </a:r>
          </a:p>
        </p:txBody>
      </p:sp>
      <p:pic>
        <p:nvPicPr>
          <p:cNvPr id="4" name="object 3">
            <a:extLst>
              <a:ext uri="{FF2B5EF4-FFF2-40B4-BE49-F238E27FC236}">
                <a16:creationId xmlns:a16="http://schemas.microsoft.com/office/drawing/2014/main" id="{2734D0A8-6524-AA19-4D3A-E334D3CDC265}"/>
              </a:ext>
            </a:extLst>
          </p:cNvPr>
          <p:cNvPicPr/>
          <p:nvPr/>
        </p:nvPicPr>
        <p:blipFill>
          <a:blip r:embed="rId2" cstate="print"/>
          <a:stretch>
            <a:fillRect/>
          </a:stretch>
        </p:blipFill>
        <p:spPr>
          <a:xfrm>
            <a:off x="242888" y="229869"/>
            <a:ext cx="1343024" cy="1143000"/>
          </a:xfrm>
          <a:prstGeom prst="rect">
            <a:avLst/>
          </a:prstGeom>
        </p:spPr>
      </p:pic>
      <p:pic>
        <p:nvPicPr>
          <p:cNvPr id="5" name="object 4">
            <a:extLst>
              <a:ext uri="{FF2B5EF4-FFF2-40B4-BE49-F238E27FC236}">
                <a16:creationId xmlns:a16="http://schemas.microsoft.com/office/drawing/2014/main" id="{693D5DF7-3F27-230D-2A24-AAC3BC3AA8AF}"/>
              </a:ext>
            </a:extLst>
          </p:cNvPr>
          <p:cNvPicPr/>
          <p:nvPr/>
        </p:nvPicPr>
        <p:blipFill>
          <a:blip r:embed="rId3" cstate="print"/>
          <a:stretch>
            <a:fillRect/>
          </a:stretch>
        </p:blipFill>
        <p:spPr>
          <a:xfrm>
            <a:off x="10839174" y="152400"/>
            <a:ext cx="1109938" cy="1097279"/>
          </a:xfrm>
          <a:prstGeom prst="rect">
            <a:avLst/>
          </a:prstGeom>
        </p:spPr>
      </p:pic>
    </p:spTree>
    <p:extLst>
      <p:ext uri="{BB962C8B-B14F-4D97-AF65-F5344CB8AC3E}">
        <p14:creationId xmlns:p14="http://schemas.microsoft.com/office/powerpoint/2010/main" val="2159937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B16C-42A6-2FA5-2589-0A9F80E41405}"/>
              </a:ext>
            </a:extLst>
          </p:cNvPr>
          <p:cNvSpPr>
            <a:spLocks noGrp="1"/>
          </p:cNvSpPr>
          <p:nvPr>
            <p:ph type="title"/>
          </p:nvPr>
        </p:nvSpPr>
        <p:spPr>
          <a:xfrm>
            <a:off x="3248025" y="229869"/>
            <a:ext cx="5695949" cy="553998"/>
          </a:xfrm>
        </p:spPr>
        <p:txBody>
          <a:bodyPr/>
          <a:lstStyle/>
          <a:p>
            <a:pPr algn="ctr"/>
            <a:r>
              <a:rPr lang="en-IN" sz="3600" dirty="0"/>
              <a:t>FUTURE SCOPE</a:t>
            </a:r>
          </a:p>
        </p:txBody>
      </p:sp>
      <p:sp>
        <p:nvSpPr>
          <p:cNvPr id="3" name="Text Placeholder 2">
            <a:extLst>
              <a:ext uri="{FF2B5EF4-FFF2-40B4-BE49-F238E27FC236}">
                <a16:creationId xmlns:a16="http://schemas.microsoft.com/office/drawing/2014/main" id="{435A2237-19E4-D2FD-9E8D-3E7C0CBF5ED4}"/>
              </a:ext>
            </a:extLst>
          </p:cNvPr>
          <p:cNvSpPr>
            <a:spLocks noGrp="1"/>
          </p:cNvSpPr>
          <p:nvPr>
            <p:ph type="body" idx="1"/>
          </p:nvPr>
        </p:nvSpPr>
        <p:spPr>
          <a:xfrm>
            <a:off x="838200" y="1329892"/>
            <a:ext cx="10591800" cy="4616648"/>
          </a:xfrm>
        </p:spPr>
        <p:txBody>
          <a:bodyPr/>
          <a:lstStyle/>
          <a:p>
            <a:pPr marL="342900" lvl="0" indent="-342900">
              <a:buFont typeface="Wingdings" panose="05000000000000000000" pitchFamily="2" charset="2"/>
              <a:buChar char="Ø"/>
            </a:pPr>
            <a:r>
              <a:rPr lang="en-IN" sz="2000" b="1" dirty="0"/>
              <a:t>Advanced Workload Prediction:</a:t>
            </a:r>
            <a:r>
              <a:rPr lang="en-IN" sz="2000" dirty="0"/>
              <a:t> Improve prediction accuracy using advanced AI and deep learning techniques. </a:t>
            </a:r>
          </a:p>
          <a:p>
            <a:pPr lvl="0"/>
            <a:endParaRPr lang="en-IN" sz="2000" dirty="0"/>
          </a:p>
          <a:p>
            <a:pPr marL="342900" lvl="0" indent="-342900">
              <a:buFont typeface="Wingdings" panose="05000000000000000000" pitchFamily="2" charset="2"/>
              <a:buChar char="Ø"/>
            </a:pPr>
            <a:r>
              <a:rPr lang="en-IN" sz="2000" b="1" dirty="0"/>
              <a:t>Multi-Cloud Support:</a:t>
            </a:r>
            <a:r>
              <a:rPr lang="en-IN" sz="2000" dirty="0"/>
              <a:t> Extend the system to manage resources across AWS, Microsoft Azure, and Google Cloud. </a:t>
            </a:r>
          </a:p>
          <a:p>
            <a:pPr lvl="0"/>
            <a:endParaRPr lang="en-IN" sz="2000" dirty="0"/>
          </a:p>
          <a:p>
            <a:pPr marL="342900" lvl="0" indent="-342900">
              <a:buFont typeface="Wingdings" panose="05000000000000000000" pitchFamily="2" charset="2"/>
              <a:buChar char="Ø"/>
            </a:pPr>
            <a:r>
              <a:rPr lang="en-IN" sz="2000" b="1" dirty="0"/>
              <a:t>Real-Time Auto Scaling:</a:t>
            </a:r>
            <a:r>
              <a:rPr lang="en-IN" sz="2000" dirty="0"/>
              <a:t> Make scaling decisions faster for sudden changes in workload. </a:t>
            </a:r>
          </a:p>
          <a:p>
            <a:pPr lvl="0"/>
            <a:endParaRPr lang="en-IN" sz="2000" dirty="0"/>
          </a:p>
          <a:p>
            <a:pPr marL="342900" lvl="0" indent="-342900">
              <a:buFont typeface="Wingdings" panose="05000000000000000000" pitchFamily="2" charset="2"/>
              <a:buChar char="Ø"/>
            </a:pPr>
            <a:r>
              <a:rPr lang="en-IN" sz="2000" b="1" dirty="0"/>
              <a:t>Cost Optimization:</a:t>
            </a:r>
            <a:r>
              <a:rPr lang="en-IN" sz="2000" dirty="0"/>
              <a:t> Further reduce cloud costs by selecting the most economical resources. </a:t>
            </a:r>
          </a:p>
          <a:p>
            <a:pPr lvl="0"/>
            <a:endParaRPr lang="en-IN" sz="2000" dirty="0"/>
          </a:p>
          <a:p>
            <a:pPr marL="342900" lvl="0" indent="-342900">
              <a:buFont typeface="Wingdings" panose="05000000000000000000" pitchFamily="2" charset="2"/>
              <a:buChar char="Ø"/>
            </a:pPr>
            <a:r>
              <a:rPr lang="en-IN" sz="2000" b="1" dirty="0"/>
              <a:t>Self-Learning System:</a:t>
            </a:r>
            <a:r>
              <a:rPr lang="en-IN" sz="2000" dirty="0"/>
              <a:t> Allow the reinforcement learning model to continuously learn from new workloads and improve its decisions. </a:t>
            </a:r>
          </a:p>
          <a:p>
            <a:pPr lvl="0"/>
            <a:endParaRPr lang="en-IN" sz="2000" dirty="0"/>
          </a:p>
          <a:p>
            <a:pPr marL="342900" lvl="0" indent="-342900">
              <a:buFont typeface="Wingdings" panose="05000000000000000000" pitchFamily="2" charset="2"/>
              <a:buChar char="Ø"/>
            </a:pPr>
            <a:r>
              <a:rPr lang="en-IN" sz="2000" b="1" dirty="0"/>
              <a:t>Large-Scale Deployment:</a:t>
            </a:r>
            <a:r>
              <a:rPr lang="en-IN" sz="2000" dirty="0"/>
              <a:t> Extend the system for large applications, data </a:t>
            </a:r>
            <a:r>
              <a:rPr lang="en-IN" sz="2000" dirty="0" err="1"/>
              <a:t>centers</a:t>
            </a:r>
            <a:r>
              <a:rPr lang="en-IN" sz="2000" dirty="0"/>
              <a:t>, and enterprise cloud environments.</a:t>
            </a:r>
          </a:p>
        </p:txBody>
      </p:sp>
      <p:pic>
        <p:nvPicPr>
          <p:cNvPr id="4" name="object 3">
            <a:extLst>
              <a:ext uri="{FF2B5EF4-FFF2-40B4-BE49-F238E27FC236}">
                <a16:creationId xmlns:a16="http://schemas.microsoft.com/office/drawing/2014/main" id="{E0127CFE-71BB-AA59-7CE0-016F35BF7C0F}"/>
              </a:ext>
            </a:extLst>
          </p:cNvPr>
          <p:cNvPicPr/>
          <p:nvPr/>
        </p:nvPicPr>
        <p:blipFill>
          <a:blip r:embed="rId2" cstate="print"/>
          <a:stretch>
            <a:fillRect/>
          </a:stretch>
        </p:blipFill>
        <p:spPr>
          <a:xfrm>
            <a:off x="230507" y="121225"/>
            <a:ext cx="1343024" cy="1143000"/>
          </a:xfrm>
          <a:prstGeom prst="rect">
            <a:avLst/>
          </a:prstGeom>
        </p:spPr>
      </p:pic>
      <p:pic>
        <p:nvPicPr>
          <p:cNvPr id="5" name="object 4">
            <a:extLst>
              <a:ext uri="{FF2B5EF4-FFF2-40B4-BE49-F238E27FC236}">
                <a16:creationId xmlns:a16="http://schemas.microsoft.com/office/drawing/2014/main" id="{D201BF6B-F50D-257E-7321-3CB9DD9410E7}"/>
              </a:ext>
            </a:extLst>
          </p:cNvPr>
          <p:cNvPicPr/>
          <p:nvPr/>
        </p:nvPicPr>
        <p:blipFill>
          <a:blip r:embed="rId3" cstate="print"/>
          <a:stretch>
            <a:fillRect/>
          </a:stretch>
        </p:blipFill>
        <p:spPr>
          <a:xfrm>
            <a:off x="10878594" y="144085"/>
            <a:ext cx="1109938" cy="1097279"/>
          </a:xfrm>
          <a:prstGeom prst="rect">
            <a:avLst/>
          </a:prstGeom>
        </p:spPr>
      </p:pic>
    </p:spTree>
    <p:extLst>
      <p:ext uri="{BB962C8B-B14F-4D97-AF65-F5344CB8AC3E}">
        <p14:creationId xmlns:p14="http://schemas.microsoft.com/office/powerpoint/2010/main" val="70907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0F0C-B137-3792-FB67-AF1F376BECEE}"/>
              </a:ext>
            </a:extLst>
          </p:cNvPr>
          <p:cNvSpPr>
            <a:spLocks noGrp="1"/>
          </p:cNvSpPr>
          <p:nvPr>
            <p:ph type="title"/>
          </p:nvPr>
        </p:nvSpPr>
        <p:spPr>
          <a:xfrm>
            <a:off x="3581400" y="457199"/>
            <a:ext cx="5362574" cy="326667"/>
          </a:xfrm>
        </p:spPr>
        <p:txBody>
          <a:bodyPr/>
          <a:lstStyle/>
          <a:p>
            <a:pPr algn="ctr"/>
            <a:r>
              <a:rPr lang="en-IN" sz="3600" dirty="0"/>
              <a:t>CONCLUSION</a:t>
            </a:r>
          </a:p>
        </p:txBody>
      </p:sp>
      <p:sp>
        <p:nvSpPr>
          <p:cNvPr id="3" name="Text Placeholder 2">
            <a:extLst>
              <a:ext uri="{FF2B5EF4-FFF2-40B4-BE49-F238E27FC236}">
                <a16:creationId xmlns:a16="http://schemas.microsoft.com/office/drawing/2014/main" id="{46A28373-9892-9AE0-A334-4D7BE78AD651}"/>
              </a:ext>
            </a:extLst>
          </p:cNvPr>
          <p:cNvSpPr>
            <a:spLocks noGrp="1"/>
          </p:cNvSpPr>
          <p:nvPr>
            <p:ph type="body" idx="1"/>
          </p:nvPr>
        </p:nvSpPr>
        <p:spPr>
          <a:xfrm>
            <a:off x="762000" y="1676399"/>
            <a:ext cx="10744200" cy="4005341"/>
          </a:xfrm>
        </p:spPr>
        <p:txBody>
          <a:bodyPr/>
          <a:lstStyle/>
          <a:p>
            <a:pPr marL="342900" lvl="0" indent="-342900">
              <a:buFont typeface="Wingdings" panose="05000000000000000000" pitchFamily="2" charset="2"/>
              <a:buChar char="Ø"/>
            </a:pPr>
            <a:r>
              <a:rPr lang="en-IN" sz="2000" dirty="0"/>
              <a:t>The proposed system uses AI and Model-Based Reinforcement Learning to manage cloud resources intelligently. </a:t>
            </a:r>
          </a:p>
          <a:p>
            <a:pPr lvl="0"/>
            <a:endParaRPr lang="en-IN" sz="2000" dirty="0"/>
          </a:p>
          <a:p>
            <a:pPr marL="342900" lvl="0" indent="-342900">
              <a:buFont typeface="Wingdings" panose="05000000000000000000" pitchFamily="2" charset="2"/>
              <a:buChar char="Ø"/>
            </a:pPr>
            <a:r>
              <a:rPr lang="en-IN" sz="2000" dirty="0"/>
              <a:t>It continuously monitors CPU, memory, workload, and user requests. </a:t>
            </a:r>
          </a:p>
          <a:p>
            <a:pPr lvl="0"/>
            <a:endParaRPr lang="en-IN" sz="2000" dirty="0"/>
          </a:p>
          <a:p>
            <a:pPr marL="342900" lvl="0" indent="-342900">
              <a:buFont typeface="Wingdings" panose="05000000000000000000" pitchFamily="2" charset="2"/>
              <a:buChar char="Ø"/>
            </a:pPr>
            <a:r>
              <a:rPr lang="en-IN" sz="2000" dirty="0"/>
              <a:t>The system predicts future workload and resource requirements before making scaling decisions. </a:t>
            </a:r>
          </a:p>
          <a:p>
            <a:pPr lvl="0"/>
            <a:endParaRPr lang="en-IN" sz="2000" dirty="0"/>
          </a:p>
          <a:p>
            <a:pPr marL="342900" lvl="0" indent="-342900">
              <a:buFont typeface="Wingdings" panose="05000000000000000000" pitchFamily="2" charset="2"/>
              <a:buChar char="Ø"/>
            </a:pPr>
            <a:r>
              <a:rPr lang="en-IN" sz="2000" dirty="0"/>
              <a:t>It automatically performs Scale Up, Scale Down, or No Change based on the workload. </a:t>
            </a:r>
          </a:p>
          <a:p>
            <a:pPr lvl="0"/>
            <a:endParaRPr lang="en-IN" sz="2000" dirty="0"/>
          </a:p>
          <a:p>
            <a:pPr marL="342900" lvl="0" indent="-342900">
              <a:buFont typeface="Wingdings" panose="05000000000000000000" pitchFamily="2" charset="2"/>
              <a:buChar char="Ø"/>
            </a:pPr>
            <a:r>
              <a:rPr lang="en-IN" sz="2000" dirty="0"/>
              <a:t>The approach helps reduce cloud cost, prevent server overload, and improve performance. </a:t>
            </a:r>
          </a:p>
          <a:p>
            <a:pPr lvl="0"/>
            <a:endParaRPr lang="en-IN" sz="2000" dirty="0"/>
          </a:p>
          <a:p>
            <a:pPr marL="342900" lvl="0" indent="-342900">
              <a:buFont typeface="Wingdings" panose="05000000000000000000" pitchFamily="2" charset="2"/>
              <a:buChar char="Ø"/>
            </a:pPr>
            <a:r>
              <a:rPr lang="en-IN" sz="2000" dirty="0"/>
              <a:t>Overall, the system provides efficient, automatic, and intelligent cloud resource management with less human intervention.</a:t>
            </a:r>
          </a:p>
          <a:p>
            <a:pPr marL="342900" lvl="0" indent="-342900">
              <a:buFont typeface="Wingdings" panose="05000000000000000000" pitchFamily="2" charset="2"/>
              <a:buChar char="Ø"/>
            </a:pPr>
            <a:endParaRPr lang="en-IN" sz="2000" dirty="0"/>
          </a:p>
        </p:txBody>
      </p:sp>
      <p:pic>
        <p:nvPicPr>
          <p:cNvPr id="4" name="object 3">
            <a:extLst>
              <a:ext uri="{FF2B5EF4-FFF2-40B4-BE49-F238E27FC236}">
                <a16:creationId xmlns:a16="http://schemas.microsoft.com/office/drawing/2014/main" id="{E0695AC3-E95D-81DE-93C0-F32D76D9E934}"/>
              </a:ext>
            </a:extLst>
          </p:cNvPr>
          <p:cNvPicPr/>
          <p:nvPr/>
        </p:nvPicPr>
        <p:blipFill>
          <a:blip r:embed="rId2" cstate="print"/>
          <a:stretch>
            <a:fillRect/>
          </a:stretch>
        </p:blipFill>
        <p:spPr>
          <a:xfrm>
            <a:off x="242888" y="229869"/>
            <a:ext cx="1343024" cy="1143000"/>
          </a:xfrm>
          <a:prstGeom prst="rect">
            <a:avLst/>
          </a:prstGeom>
        </p:spPr>
      </p:pic>
      <p:pic>
        <p:nvPicPr>
          <p:cNvPr id="5" name="object 4">
            <a:extLst>
              <a:ext uri="{FF2B5EF4-FFF2-40B4-BE49-F238E27FC236}">
                <a16:creationId xmlns:a16="http://schemas.microsoft.com/office/drawing/2014/main" id="{6D478E8D-8667-FACE-43C5-38D50CEC0E7E}"/>
              </a:ext>
            </a:extLst>
          </p:cNvPr>
          <p:cNvPicPr/>
          <p:nvPr/>
        </p:nvPicPr>
        <p:blipFill>
          <a:blip r:embed="rId3" cstate="print"/>
          <a:stretch>
            <a:fillRect/>
          </a:stretch>
        </p:blipFill>
        <p:spPr>
          <a:xfrm>
            <a:off x="10909965" y="152400"/>
            <a:ext cx="1109938" cy="1097279"/>
          </a:xfrm>
          <a:prstGeom prst="rect">
            <a:avLst/>
          </a:prstGeom>
        </p:spPr>
      </p:pic>
    </p:spTree>
    <p:extLst>
      <p:ext uri="{BB962C8B-B14F-4D97-AF65-F5344CB8AC3E}">
        <p14:creationId xmlns:p14="http://schemas.microsoft.com/office/powerpoint/2010/main" val="2497586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79D7-EFDF-87F5-28DA-5E7E8F103F09}"/>
              </a:ext>
            </a:extLst>
          </p:cNvPr>
          <p:cNvSpPr>
            <a:spLocks noGrp="1"/>
          </p:cNvSpPr>
          <p:nvPr>
            <p:ph type="title"/>
          </p:nvPr>
        </p:nvSpPr>
        <p:spPr>
          <a:xfrm>
            <a:off x="4343400" y="457200"/>
            <a:ext cx="3429000" cy="326667"/>
          </a:xfrm>
        </p:spPr>
        <p:txBody>
          <a:bodyPr/>
          <a:lstStyle/>
          <a:p>
            <a:r>
              <a:rPr lang="en-IN" sz="3600" dirty="0"/>
              <a:t>REFERENCES</a:t>
            </a:r>
          </a:p>
        </p:txBody>
      </p:sp>
      <p:sp>
        <p:nvSpPr>
          <p:cNvPr id="3" name="Text Placeholder 2">
            <a:extLst>
              <a:ext uri="{FF2B5EF4-FFF2-40B4-BE49-F238E27FC236}">
                <a16:creationId xmlns:a16="http://schemas.microsoft.com/office/drawing/2014/main" id="{46E63C06-5A10-04B5-10EF-A8744457848B}"/>
              </a:ext>
            </a:extLst>
          </p:cNvPr>
          <p:cNvSpPr>
            <a:spLocks noGrp="1"/>
          </p:cNvSpPr>
          <p:nvPr>
            <p:ph type="body" idx="1"/>
          </p:nvPr>
        </p:nvSpPr>
        <p:spPr>
          <a:xfrm>
            <a:off x="609600" y="1524000"/>
            <a:ext cx="10896600" cy="5104131"/>
          </a:xfrm>
        </p:spPr>
        <p:txBody>
          <a:bodyPr/>
          <a:lstStyle/>
          <a:p>
            <a:pPr marL="342900" lvl="0" indent="-342900">
              <a:buFont typeface="Wingdings" panose="05000000000000000000" pitchFamily="2" charset="2"/>
              <a:buChar char="Ø"/>
            </a:pPr>
            <a:r>
              <a:rPr lang="en-IN" sz="2000" dirty="0"/>
              <a:t>Kayalvili, S. et al. (2025) – An Optimized Resource Allocation in Cloud Using Prediction Enabled Reinforcement Learning. </a:t>
            </a:r>
          </a:p>
          <a:p>
            <a:pPr lvl="0"/>
            <a:endParaRPr lang="en-IN" sz="2000" dirty="0"/>
          </a:p>
          <a:p>
            <a:pPr marL="342900" lvl="0" indent="-342900">
              <a:buFont typeface="Wingdings" panose="05000000000000000000" pitchFamily="2" charset="2"/>
              <a:buChar char="Ø"/>
            </a:pPr>
            <a:r>
              <a:rPr lang="en-IN" sz="2000" dirty="0"/>
              <a:t>Feng, X. et al. (2025) – Adaptive Container Auto-Scaling for Fluctuating Workloads in Cloud. </a:t>
            </a:r>
          </a:p>
          <a:p>
            <a:pPr lvl="0"/>
            <a:endParaRPr lang="en-IN" sz="2000" dirty="0"/>
          </a:p>
          <a:p>
            <a:pPr marL="342900" lvl="0" indent="-342900">
              <a:buFont typeface="Wingdings" panose="05000000000000000000" pitchFamily="2" charset="2"/>
              <a:buChar char="Ø"/>
            </a:pPr>
            <a:r>
              <a:rPr lang="en-IN" sz="2000" dirty="0"/>
              <a:t>Santos, J. et al. (2025) – Can Reinforcement Learning be Generalized for Efficient Auto-Scaling in Containerized Clouds.</a:t>
            </a:r>
          </a:p>
          <a:p>
            <a:pPr lvl="0"/>
            <a:endParaRPr lang="en-IN" sz="2000" dirty="0"/>
          </a:p>
          <a:p>
            <a:pPr marL="342900" lvl="0" indent="-342900">
              <a:buFont typeface="Wingdings" panose="05000000000000000000" pitchFamily="2" charset="2"/>
              <a:buChar char="Ø"/>
            </a:pPr>
            <a:r>
              <a:rPr lang="en-IN" sz="2000" dirty="0"/>
              <a:t>Santos, J. et al. (2025) – Gwydion: Efficient Auto-Scaling for Complex Containerized Applications in Kubernetes Through Reinforcement Learning. </a:t>
            </a:r>
          </a:p>
          <a:p>
            <a:pPr lvl="0"/>
            <a:endParaRPr lang="en-IN" sz="2000" dirty="0"/>
          </a:p>
          <a:p>
            <a:pPr marL="342900" lvl="0" indent="-342900">
              <a:buFont typeface="Wingdings" panose="05000000000000000000" pitchFamily="2" charset="2"/>
              <a:buChar char="Ø"/>
            </a:pPr>
            <a:r>
              <a:rPr lang="en-IN" sz="2000" dirty="0"/>
              <a:t>Pan, J. et al. (2025) – A Dual Scheduling Framework for Task and Resource Allocation in Clouds Using Deep Reinforcement Learning. </a:t>
            </a:r>
          </a:p>
          <a:p>
            <a:pPr lvl="0"/>
            <a:endParaRPr lang="en-IN" sz="2000" dirty="0"/>
          </a:p>
          <a:p>
            <a:pPr marL="342900" lvl="0" indent="-342900">
              <a:buFont typeface="Wingdings" panose="05000000000000000000" pitchFamily="2" charset="2"/>
              <a:buChar char="Ø"/>
            </a:pPr>
            <a:r>
              <a:rPr lang="en-IN" sz="2000" dirty="0"/>
              <a:t>Zhou, G. et al. (2024) – Deep Reinforcement Learning-Based Methods for Resource Scheduling in Cloud Computing: A Review and Future Directions.</a:t>
            </a:r>
          </a:p>
          <a:p>
            <a:pPr marL="342900" indent="-342900">
              <a:lnSpc>
                <a:spcPct val="150000"/>
              </a:lnSpc>
              <a:buFont typeface="Wingdings" panose="05000000000000000000" pitchFamily="2" charset="2"/>
              <a:buChar char="Ø"/>
            </a:pPr>
            <a:endParaRPr lang="en-IN" sz="2000" dirty="0"/>
          </a:p>
        </p:txBody>
      </p:sp>
      <p:pic>
        <p:nvPicPr>
          <p:cNvPr id="4" name="object 3">
            <a:extLst>
              <a:ext uri="{FF2B5EF4-FFF2-40B4-BE49-F238E27FC236}">
                <a16:creationId xmlns:a16="http://schemas.microsoft.com/office/drawing/2014/main" id="{B9A1FEC8-D3AD-1C00-53D1-B1D45D30BF35}"/>
              </a:ext>
            </a:extLst>
          </p:cNvPr>
          <p:cNvPicPr/>
          <p:nvPr/>
        </p:nvPicPr>
        <p:blipFill>
          <a:blip r:embed="rId2" cstate="print"/>
          <a:stretch>
            <a:fillRect/>
          </a:stretch>
        </p:blipFill>
        <p:spPr>
          <a:xfrm>
            <a:off x="242888" y="229869"/>
            <a:ext cx="1343024" cy="1143000"/>
          </a:xfrm>
          <a:prstGeom prst="rect">
            <a:avLst/>
          </a:prstGeom>
        </p:spPr>
      </p:pic>
      <p:pic>
        <p:nvPicPr>
          <p:cNvPr id="5" name="object 4">
            <a:extLst>
              <a:ext uri="{FF2B5EF4-FFF2-40B4-BE49-F238E27FC236}">
                <a16:creationId xmlns:a16="http://schemas.microsoft.com/office/drawing/2014/main" id="{80826491-E005-4EE6-D425-8C49CBE59762}"/>
              </a:ext>
            </a:extLst>
          </p:cNvPr>
          <p:cNvPicPr/>
          <p:nvPr/>
        </p:nvPicPr>
        <p:blipFill>
          <a:blip r:embed="rId3" cstate="print"/>
          <a:stretch>
            <a:fillRect/>
          </a:stretch>
        </p:blipFill>
        <p:spPr>
          <a:xfrm>
            <a:off x="10909965" y="152400"/>
            <a:ext cx="1109938" cy="1097279"/>
          </a:xfrm>
          <a:prstGeom prst="rect">
            <a:avLst/>
          </a:prstGeom>
        </p:spPr>
      </p:pic>
    </p:spTree>
    <p:extLst>
      <p:ext uri="{BB962C8B-B14F-4D97-AF65-F5344CB8AC3E}">
        <p14:creationId xmlns:p14="http://schemas.microsoft.com/office/powerpoint/2010/main" val="227200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048000" y="2829560"/>
            <a:ext cx="6033135" cy="1198880"/>
          </a:xfrm>
          <a:prstGeom prst="rect">
            <a:avLst/>
          </a:prstGeom>
          <a:noFill/>
        </p:spPr>
        <p:txBody>
          <a:bodyPr wrap="square" rtlCol="0">
            <a:spAutoFit/>
          </a:bodyPr>
          <a:lstStyle/>
          <a:p>
            <a:r>
              <a:rPr lang="en-US" sz="7200" dirty="0">
                <a:solidFill>
                  <a:srgbClr val="C0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TotalTime>
  <Words>1398</Words>
  <Application>Microsoft Office PowerPoint</Application>
  <PresentationFormat>Widescreen</PresentationFormat>
  <Paragraphs>159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Times New Roman</vt:lpstr>
      <vt:lpstr>Wingdings</vt:lpstr>
      <vt:lpstr>Office Theme</vt:lpstr>
      <vt:lpstr>PowerPoint Presentation</vt:lpstr>
      <vt:lpstr>ABSTRACT</vt:lpstr>
      <vt:lpstr>INTRODUCTION</vt:lpstr>
      <vt:lpstr>LITERATURE REVIEW </vt:lpstr>
      <vt:lpstr>PROBLEM STATEMENT</vt:lpstr>
      <vt:lpstr>OBJECTIVES</vt:lpstr>
      <vt:lpstr>ARCHITECTURE SYSTEM</vt:lpstr>
      <vt:lpstr>MODULE 1:CLOUD MONITORING</vt:lpstr>
      <vt:lpstr>MODULE 2:WORKLOAD PREDICTION</vt:lpstr>
      <vt:lpstr>MODULE 3:INTELLIGENT AUTO SCALING</vt:lpstr>
      <vt:lpstr>MODULE 4:PERFORMANCE AND COST MANAGEMENT</vt:lpstr>
      <vt:lpstr>RESULTS AND DISCUSSION</vt:lpstr>
      <vt:lpstr>APPLICATIONS</vt:lpstr>
      <vt:lpstr>FUTURE SCOPE</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 SAVEETHA INSTITUTE OF MEDICAL AND TECHNICAL SCIENCES</dc:title>
  <dc:creator>LENOVO</dc:creator>
  <cp:lastModifiedBy>Haritha D</cp:lastModifiedBy>
  <cp:revision>31</cp:revision>
  <dcterms:created xsi:type="dcterms:W3CDTF">2025-12-24T03:01:00Z</dcterms:created>
  <dcterms:modified xsi:type="dcterms:W3CDTF">2026-08-29T09:06:10Z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2025-12-24T11:00:00Z</vt:filetime>
  </property>
  <property fmtid="{D5CDD505-2E9C-101B-9397-08002B2CF9AE}" pid="3" name="LastSaved">
    <vt:filetime>2025-12-24T11:00:00Z</vt:filetime>
  </property>
  <property fmtid="{D5CDD505-2E9C-101B-9397-08002B2CF9AE}" pid="4" name="ICV">
    <vt:lpwstr>65C4E49682984BF98145F6A23285ED7B_12</vt:lpwstr>
  </property>
  <property fmtid="{D5CDD505-2E9C-101B-9397-08002B2CF9AE}" pid="5" name="KSOProductBuildVer">
    <vt:lpwstr>1033-12.2.0.23196</vt:lpwstr>
  </property>
</Properties>
</file>